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82" r:id="rId19"/>
  </p:sldIdLst>
  <p:sldSz cx="12192000" cy="6858000"/>
  <p:notesSz cx="6858000" cy="12192000"/>
  <p:embeddedFontLst>
    <p:embeddedFont>
      <p:font typeface="Barlow" panose="00000500000000000000" pitchFamily="2" charset="0"/>
      <p:regular r:id="rId21"/>
      <p:bold r:id="rId22"/>
      <p:italic r:id="rId23"/>
      <p:boldItalic r:id="rId24"/>
    </p:embeddedFont>
    <p:embeddedFont>
      <p:font typeface="Barlow Bold" panose="00000800000000000000" charset="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Consolas Bold" panose="020B0709020204030204" pitchFamily="49" charset="0"/>
      <p:bold r:id="rId32"/>
    </p:embeddedFont>
    <p:embeddedFont>
      <p:font typeface="Open Sauce Bold" panose="020B0604020202020204" charset="0"/>
      <p:regular r:id="rId33"/>
    </p:embeddedFont>
    <p:embeddedFont>
      <p:font typeface="Spline Sans Bold" panose="020B0604020202020204" charset="0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6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4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ev-yourwebsites.pantheonsite.io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2465ED-A74F-389B-1221-89E8AECF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29"/>
            <a:ext cx="12192000" cy="68147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5086483" y="822646"/>
            <a:ext cx="2184400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 of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Submitted to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Toward 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By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BCA</a:t>
            </a:r>
            <a:endParaRPr lang="en-IN" sz="1333" dirty="0"/>
          </a:p>
          <a:p>
            <a:pPr algn="ctr"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933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Semester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Harsh Tanwar</a:t>
            </a:r>
            <a:endParaRPr lang="en-IN" sz="13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5086483" y="5003800"/>
            <a:ext cx="2184400" cy="13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345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345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106/10, Civil Lines, Ajmer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563C1"/>
                </a:solidFill>
                <a:latin typeface="Calibri" panose="020F0502020204030204" pitchFamily="34" charset="0"/>
              </a:rPr>
              <a:t>www.dezyneecole.com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2026-2027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Assignment Report</a:t>
            </a:r>
            <a:endParaRPr lang="en-IN" sz="2133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E1CAB-64B6-F050-C6E2-1A5CBD4D0764}"/>
              </a:ext>
            </a:extLst>
          </p:cNvPr>
          <p:cNvSpPr txBox="1"/>
          <p:nvPr/>
        </p:nvSpPr>
        <p:spPr>
          <a:xfrm>
            <a:off x="5546891" y="4403948"/>
            <a:ext cx="1098218" cy="68577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Acknowledgement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477520" y="1394545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for providing us with the knowledge, </a:t>
            </a:r>
            <a:endParaRPr lang="en-IN" sz="1600" dirty="0"/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467360" y="199196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Our deepest thanks to our respected Principal, Dr. Vinita Mathur, for her visionary leadership and continuous encouragement. </a:t>
            </a:r>
          </a:p>
          <a:p>
            <a:r>
              <a:rPr lang="en-IN" sz="16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477520" y="266561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We are equally thankful to all our faculty members for their consistent support, expert advice, and valuable insights that </a:t>
            </a:r>
          </a:p>
          <a:p>
            <a:r>
              <a:rPr lang="en-IN" sz="16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487680" y="328489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477520" y="366822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  <a:endParaRPr lang="en-IN" sz="2133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477520" y="427071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With sincere appreciation,</a:t>
            </a:r>
            <a:endParaRPr lang="en-IN" sz="2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477520" y="461917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H</a:t>
            </a:r>
            <a:r>
              <a:rPr lang="en-IN" sz="1600" dirty="0" err="1"/>
              <a:t>arsh</a:t>
            </a:r>
            <a:r>
              <a:rPr lang="en-IN" sz="1600" dirty="0"/>
              <a:t> Tanwar</a:t>
            </a:r>
            <a:endParaRPr lang="en-IN" sz="21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477520" y="499572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Department – BCA</a:t>
            </a:r>
            <a:endParaRPr lang="en-IN" sz="26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477520" y="537226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63F44-66C3-F350-E5E6-857B477BF89B}"/>
              </a:ext>
            </a:extLst>
          </p:cNvPr>
          <p:cNvSpPr txBox="1"/>
          <p:nvPr/>
        </p:nvSpPr>
        <p:spPr>
          <a:xfrm>
            <a:off x="477520" y="13945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SEO Optimization</a:t>
            </a:r>
            <a:endParaRPr lang="en-IN" sz="2133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467360" y="1991966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To improve the search engine visibility, organic traffic, and overall website performance of a newly launched website by implementing effective On-Page, Off-Page, and Technical SEO strategies.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467360" y="176252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467360" y="2990861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 err="1"/>
              <a:t>Analyzed</a:t>
            </a:r>
            <a:r>
              <a:rPr lang="en-IN" sz="1600" dirty="0"/>
              <a:t> the website structure and performed keyword research to identify primary, secondary, and long-tail keywords based on user search intent (informational, navigational, transactional).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467360" y="2761418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Website &amp; Keyword Planning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467360" y="3849855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Optimized web pages using SEO-friendly URLs, title tags, meta descriptions, and proper heading structure (H1 – H3) to improve relevance and search engine ranking.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467360" y="362041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On-Page SEO Implementation</a:t>
            </a:r>
            <a:endParaRPr lang="en-IN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467360" y="4708850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Built high-quality backlinks through guest posting, business listings, profile creation, social bookmarking, and forum participation to increase domain authority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467360" y="447940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Off-Page SEO Activities</a:t>
            </a:r>
            <a:endParaRPr lang="en-IN" sz="3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467360" y="5567845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Improved page speed, mobile responsiveness, and HTTPS security, to ensure better crawling and indexing.</a:t>
            </a:r>
            <a:endParaRPr lang="en-IN" sz="21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467360" y="5338402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Technical SEO Optimization </a:t>
            </a:r>
            <a:endParaRPr lang="en-IN" sz="2133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5DEAB2-F0DE-8A15-C909-4C7961981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92597" y="770383"/>
            <a:ext cx="4231341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90"/>
              </a:lnSpc>
            </a:pPr>
            <a:r>
              <a:rPr lang="en-US" sz="3000" b="1" spc="-11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KEYWORD RESEARCH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03858" y="872975"/>
            <a:ext cx="4795545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7"/>
              </a:lnSpc>
            </a:pPr>
            <a:r>
              <a:rPr lang="en-US" sz="2333" b="1" spc="-86" dirty="0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PRIMARY KEYWORD ANALYSIS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281BD31-E438-3970-B3EF-FE51B68C7B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77" t="10549" r="4196" b="31900"/>
          <a:stretch/>
        </p:blipFill>
        <p:spPr>
          <a:xfrm>
            <a:off x="629599" y="2479109"/>
            <a:ext cx="5466401" cy="3007291"/>
          </a:xfrm>
          <a:prstGeom prst="rect">
            <a:avLst/>
          </a:prstGeom>
        </p:spPr>
      </p:pic>
      <p:sp>
        <p:nvSpPr>
          <p:cNvPr id="33" name="Arrow: Left 32">
            <a:extLst>
              <a:ext uri="{FF2B5EF4-FFF2-40B4-BE49-F238E27FC236}">
                <a16:creationId xmlns:a16="http://schemas.microsoft.com/office/drawing/2014/main" id="{F3DBC067-BA9A-3EDC-FD20-F775DDE6661D}"/>
              </a:ext>
            </a:extLst>
          </p:cNvPr>
          <p:cNvSpPr/>
          <p:nvPr/>
        </p:nvSpPr>
        <p:spPr>
          <a:xfrm>
            <a:off x="6603858" y="1735820"/>
            <a:ext cx="4474959" cy="780926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E8EB6403-DD68-BD85-B458-DF5123BE6E1F}"/>
              </a:ext>
            </a:extLst>
          </p:cNvPr>
          <p:cNvSpPr/>
          <p:nvPr/>
        </p:nvSpPr>
        <p:spPr>
          <a:xfrm>
            <a:off x="6603857" y="3560328"/>
            <a:ext cx="4474959" cy="780926"/>
          </a:xfrm>
          <a:prstGeom prst="left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7B66B7-ECB1-601A-13CE-3B117445295B}"/>
              </a:ext>
            </a:extLst>
          </p:cNvPr>
          <p:cNvSpPr txBox="1"/>
          <p:nvPr/>
        </p:nvSpPr>
        <p:spPr>
          <a:xfrm>
            <a:off x="7349971" y="1983442"/>
            <a:ext cx="3614560" cy="657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Primary Keyword — Short-tail</a:t>
            </a:r>
            <a:endParaRPr lang="en-US" sz="1800" dirty="0"/>
          </a:p>
          <a:p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DEB6E3-1B5F-40B9-46ED-28C515DBFA29}"/>
              </a:ext>
            </a:extLst>
          </p:cNvPr>
          <p:cNvSpPr/>
          <p:nvPr/>
        </p:nvSpPr>
        <p:spPr>
          <a:xfrm>
            <a:off x="7235687" y="2479109"/>
            <a:ext cx="3843130" cy="94989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FDA3F2-AA7E-8725-E6F7-9141EBE7A2A4}"/>
              </a:ext>
            </a:extLst>
          </p:cNvPr>
          <p:cNvSpPr/>
          <p:nvPr/>
        </p:nvSpPr>
        <p:spPr>
          <a:xfrm>
            <a:off x="7235686" y="4341254"/>
            <a:ext cx="3843130" cy="949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6F16CAF9-31D0-55B9-28E3-6F2A9334085E}"/>
              </a:ext>
            </a:extLst>
          </p:cNvPr>
          <p:cNvSpPr/>
          <p:nvPr/>
        </p:nvSpPr>
        <p:spPr>
          <a:xfrm>
            <a:off x="7409606" y="2506036"/>
            <a:ext cx="3495290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"buy electronics online"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Intent: </a:t>
            </a:r>
            <a:r>
              <a:rPr lang="en-US" sz="1250" b="1" dirty="0">
                <a:solidFill>
                  <a:srgbClr val="87ADFD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Transactional / Commercial Purchase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Users ready to complete a purchase immediately.</a:t>
            </a:r>
            <a:endParaRPr lang="en-US" sz="125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7122B2D9-08BB-43BB-60B2-2D3AFE9BCA4A}"/>
              </a:ext>
            </a:extLst>
          </p:cNvPr>
          <p:cNvSpPr/>
          <p:nvPr/>
        </p:nvSpPr>
        <p:spPr>
          <a:xfrm>
            <a:off x="7436931" y="3837879"/>
            <a:ext cx="3091369" cy="255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Secondary Keyword — Long-tail</a:t>
            </a:r>
            <a:endParaRPr lang="en-US" sz="140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99FD6B83-8419-76A1-366B-4F190B3E345F}"/>
              </a:ext>
            </a:extLst>
          </p:cNvPr>
          <p:cNvSpPr/>
          <p:nvPr/>
        </p:nvSpPr>
        <p:spPr>
          <a:xfrm>
            <a:off x="7436931" y="4395729"/>
            <a:ext cx="3543112" cy="89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lang="en-US" sz="1250" b="1" dirty="0"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"best budget wireless earbuds under 2000 in India"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latin typeface="Barlow" pitchFamily="34" charset="0"/>
                <a:ea typeface="Barlow" pitchFamily="34" charset="-122"/>
                <a:cs typeface="Barlow" pitchFamily="34" charset="-120"/>
              </a:rPr>
              <a:t>Intent: </a:t>
            </a:r>
            <a:r>
              <a:rPr lang="en-US" sz="1250" b="1" dirty="0"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Commercial Investigation / Buyer Research</a:t>
            </a:r>
            <a:r>
              <a:rPr lang="en-US" sz="1250" dirty="0">
                <a:latin typeface="Barlow" pitchFamily="34" charset="0"/>
                <a:ea typeface="Barlow" pitchFamily="34" charset="-122"/>
                <a:cs typeface="Barlow" pitchFamily="34" charset="-120"/>
              </a:rPr>
              <a:t> — Users comparing options before purchasing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5234610" y="337919"/>
            <a:ext cx="6732104" cy="343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37"/>
              </a:lnSpc>
            </a:pPr>
            <a:r>
              <a:rPr lang="en-US" sz="3200" b="1" spc="-86" dirty="0">
                <a:solidFill>
                  <a:srgbClr val="00172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LONG-TAIL KEYWORD TARGETING</a:t>
            </a:r>
          </a:p>
        </p:txBody>
      </p:sp>
      <p:sp>
        <p:nvSpPr>
          <p:cNvPr id="34" name="Rectangle: Single Corner Snipped 33">
            <a:extLst>
              <a:ext uri="{FF2B5EF4-FFF2-40B4-BE49-F238E27FC236}">
                <a16:creationId xmlns:a16="http://schemas.microsoft.com/office/drawing/2014/main" id="{88C2D92E-6D7F-C5E3-D34E-27A2C4881A19}"/>
              </a:ext>
            </a:extLst>
          </p:cNvPr>
          <p:cNvSpPr/>
          <p:nvPr/>
        </p:nvSpPr>
        <p:spPr>
          <a:xfrm>
            <a:off x="7132979" y="1738156"/>
            <a:ext cx="4373217" cy="556591"/>
          </a:xfrm>
          <a:prstGeom prst="snip1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buy women clothes online India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" name="Rectangle: Single Corner Snipped 34">
            <a:extLst>
              <a:ext uri="{FF2B5EF4-FFF2-40B4-BE49-F238E27FC236}">
                <a16:creationId xmlns:a16="http://schemas.microsoft.com/office/drawing/2014/main" id="{F4336025-D5D5-6469-A6F5-FDEFDB8D8DAD}"/>
              </a:ext>
            </a:extLst>
          </p:cNvPr>
          <p:cNvSpPr/>
          <p:nvPr/>
        </p:nvSpPr>
        <p:spPr>
          <a:xfrm>
            <a:off x="7132982" y="2447147"/>
            <a:ext cx="4373217" cy="556591"/>
          </a:xfrm>
          <a:prstGeom prst="snip1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oversized t shirts for men online</a:t>
            </a:r>
          </a:p>
        </p:txBody>
      </p:sp>
      <p:sp>
        <p:nvSpPr>
          <p:cNvPr id="36" name="Rectangle: Single Corner Snipped 35">
            <a:extLst>
              <a:ext uri="{FF2B5EF4-FFF2-40B4-BE49-F238E27FC236}">
                <a16:creationId xmlns:a16="http://schemas.microsoft.com/office/drawing/2014/main" id="{D100D58E-5FF5-72EE-A0D9-2BCCEA0AFEEF}"/>
              </a:ext>
            </a:extLst>
          </p:cNvPr>
          <p:cNvSpPr/>
          <p:nvPr/>
        </p:nvSpPr>
        <p:spPr>
          <a:xfrm>
            <a:off x="7132980" y="4710216"/>
            <a:ext cx="4373217" cy="556591"/>
          </a:xfrm>
          <a:prstGeom prst="snip1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men's office wear outfits online</a:t>
            </a:r>
            <a:endParaRPr lang="en-IN" dirty="0"/>
          </a:p>
        </p:txBody>
      </p: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7D9B9365-ECCE-3E0B-DD72-3CEE404F3D7F}"/>
              </a:ext>
            </a:extLst>
          </p:cNvPr>
          <p:cNvSpPr/>
          <p:nvPr/>
        </p:nvSpPr>
        <p:spPr>
          <a:xfrm>
            <a:off x="7132981" y="3946095"/>
            <a:ext cx="4373217" cy="556591"/>
          </a:xfrm>
          <a:prstGeom prst="snip1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women's party wear dresses for wedding</a:t>
            </a:r>
            <a:endParaRPr lang="en-IN"/>
          </a:p>
        </p:txBody>
      </p:sp>
      <p:sp>
        <p:nvSpPr>
          <p:cNvPr id="38" name="Rectangle: Single Corner Snipped 37">
            <a:extLst>
              <a:ext uri="{FF2B5EF4-FFF2-40B4-BE49-F238E27FC236}">
                <a16:creationId xmlns:a16="http://schemas.microsoft.com/office/drawing/2014/main" id="{54305A56-CDAE-4938-94D5-2BFC40BF611F}"/>
              </a:ext>
            </a:extLst>
          </p:cNvPr>
          <p:cNvSpPr/>
          <p:nvPr/>
        </p:nvSpPr>
        <p:spPr>
          <a:xfrm>
            <a:off x="7132983" y="3237104"/>
            <a:ext cx="4373217" cy="556591"/>
          </a:xfrm>
          <a:prstGeom prst="snip1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best fashion clothes under 999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B1AF896-6F1C-7730-DEE6-D6FF17377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272"/>
          <a:stretch/>
        </p:blipFill>
        <p:spPr>
          <a:xfrm>
            <a:off x="474641" y="880127"/>
            <a:ext cx="5317435" cy="5270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: Diagonal Corners Rounded 71">
            <a:extLst>
              <a:ext uri="{FF2B5EF4-FFF2-40B4-BE49-F238E27FC236}">
                <a16:creationId xmlns:a16="http://schemas.microsoft.com/office/drawing/2014/main" id="{83DC8CB6-0EEF-A253-8796-E4D35C765BAD}"/>
              </a:ext>
            </a:extLst>
          </p:cNvPr>
          <p:cNvSpPr/>
          <p:nvPr/>
        </p:nvSpPr>
        <p:spPr>
          <a:xfrm>
            <a:off x="7883030" y="1502777"/>
            <a:ext cx="3365416" cy="1715201"/>
          </a:xfrm>
          <a:prstGeom prst="round2Diag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Rectangle: Diagonal Corners Rounded 72">
            <a:extLst>
              <a:ext uri="{FF2B5EF4-FFF2-40B4-BE49-F238E27FC236}">
                <a16:creationId xmlns:a16="http://schemas.microsoft.com/office/drawing/2014/main" id="{E623D4CA-4B89-A23D-2C29-261DB5B1628B}"/>
              </a:ext>
            </a:extLst>
          </p:cNvPr>
          <p:cNvSpPr/>
          <p:nvPr/>
        </p:nvSpPr>
        <p:spPr>
          <a:xfrm>
            <a:off x="4308564" y="1543249"/>
            <a:ext cx="3365416" cy="1674729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: Diagonal Corners Rounded 70">
            <a:extLst>
              <a:ext uri="{FF2B5EF4-FFF2-40B4-BE49-F238E27FC236}">
                <a16:creationId xmlns:a16="http://schemas.microsoft.com/office/drawing/2014/main" id="{B33AD1D3-B830-F5E6-E89E-36A993585E96}"/>
              </a:ext>
            </a:extLst>
          </p:cNvPr>
          <p:cNvSpPr/>
          <p:nvPr/>
        </p:nvSpPr>
        <p:spPr>
          <a:xfrm>
            <a:off x="596348" y="1519536"/>
            <a:ext cx="3365416" cy="1684237"/>
          </a:xfrm>
          <a:prstGeom prst="round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6411014" y="3756835"/>
            <a:ext cx="4809469" cy="10023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067"/>
              </a:lnSpc>
            </a:pPr>
            <a:endParaRPr sz="120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21498557-00DF-BB9B-6B08-8010B47CCC6F}"/>
              </a:ext>
            </a:extLst>
          </p:cNvPr>
          <p:cNvSpPr/>
          <p:nvPr/>
        </p:nvSpPr>
        <p:spPr>
          <a:xfrm>
            <a:off x="943150" y="1678384"/>
            <a:ext cx="304187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SEO-Friendly URL</a:t>
            </a:r>
            <a:endParaRPr lang="en-US" sz="165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B894321A-C188-1A55-61D0-1FE9DC39461D}"/>
              </a:ext>
            </a:extLst>
          </p:cNvPr>
          <p:cNvSpPr/>
          <p:nvPr/>
        </p:nvSpPr>
        <p:spPr>
          <a:xfrm>
            <a:off x="943150" y="2045295"/>
            <a:ext cx="3041872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b="1" u="sng" dirty="0">
                <a:solidFill>
                  <a:schemeClr val="accent1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https://dev-yourwebsites.pantheonsite.io</a:t>
            </a:r>
            <a:endParaRPr lang="en-US" sz="14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A67C0DB7-5F9E-F263-0D96-34FB0A02068A}"/>
              </a:ext>
            </a:extLst>
          </p:cNvPr>
          <p:cNvSpPr/>
          <p:nvPr/>
        </p:nvSpPr>
        <p:spPr>
          <a:xfrm>
            <a:off x="4574862" y="1678384"/>
            <a:ext cx="304187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Meta Title</a:t>
            </a:r>
            <a:endParaRPr lang="en-US" sz="165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17D21A4B-6ED2-E834-5CC1-3CB5BA817E49}"/>
              </a:ext>
            </a:extLst>
          </p:cNvPr>
          <p:cNvSpPr/>
          <p:nvPr/>
        </p:nvSpPr>
        <p:spPr>
          <a:xfrm>
            <a:off x="4574862" y="2045295"/>
            <a:ext cx="3041872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 Best Wireless Earbuds Online at Lowest Prices | BuyNest India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7D0FD877-568E-983C-1C18-CB125A9EE625}"/>
              </a:ext>
            </a:extLst>
          </p:cNvPr>
          <p:cNvSpPr/>
          <p:nvPr/>
        </p:nvSpPr>
        <p:spPr>
          <a:xfrm>
            <a:off x="8206574" y="1678384"/>
            <a:ext cx="3041872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Meta Description</a:t>
            </a:r>
            <a:endParaRPr lang="en-US" sz="165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2590D7A7-310A-0BB0-20CC-F25728A61B1B}"/>
              </a:ext>
            </a:extLst>
          </p:cNvPr>
          <p:cNvSpPr/>
          <p:nvPr/>
        </p:nvSpPr>
        <p:spPr>
          <a:xfrm>
            <a:off x="8206574" y="2045295"/>
            <a:ext cx="3041872" cy="1158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Shop top-rated noise-canceling wireless earbuds on BuyNest. Enjoy mega discounts, fast pan-India delivery, and easy returns.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241F8C17-DF7C-8379-73EF-E7814C33B4D3}"/>
              </a:ext>
            </a:extLst>
          </p:cNvPr>
          <p:cNvSpPr/>
          <p:nvPr/>
        </p:nvSpPr>
        <p:spPr>
          <a:xfrm>
            <a:off x="734200" y="5531572"/>
            <a:ext cx="3194565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H1</a:t>
            </a:r>
            <a:endParaRPr lang="en-US" sz="165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05020A2C-D7C5-9835-64B1-641D495ED3E2}"/>
              </a:ext>
            </a:extLst>
          </p:cNvPr>
          <p:cNvSpPr/>
          <p:nvPr/>
        </p:nvSpPr>
        <p:spPr>
          <a:xfrm>
            <a:off x="734201" y="5795295"/>
            <a:ext cx="3194565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latin typeface="Barlow" pitchFamily="34" charset="0"/>
                <a:ea typeface="Barlow" pitchFamily="34" charset="-122"/>
                <a:cs typeface="Barlow" pitchFamily="34" charset="-120"/>
              </a:rPr>
              <a:t>Buy Wireless Earbuds &amp; Bluetooth Earphones Online</a:t>
            </a:r>
            <a:endParaRPr lang="en-US" sz="145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04DF9F61-3C4B-0007-C06D-2EE49441E289}"/>
              </a:ext>
            </a:extLst>
          </p:cNvPr>
          <p:cNvSpPr/>
          <p:nvPr/>
        </p:nvSpPr>
        <p:spPr>
          <a:xfrm>
            <a:off x="4422069" y="5531572"/>
            <a:ext cx="3194665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H2</a:t>
            </a:r>
            <a:endParaRPr lang="en-US" sz="165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4BC91446-EA83-B936-CA31-97C6405823E0}"/>
              </a:ext>
            </a:extLst>
          </p:cNvPr>
          <p:cNvSpPr/>
          <p:nvPr/>
        </p:nvSpPr>
        <p:spPr>
          <a:xfrm>
            <a:off x="4422069" y="5898483"/>
            <a:ext cx="3194665" cy="289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latin typeface="Barlow" pitchFamily="34" charset="0"/>
                <a:ea typeface="Barlow" pitchFamily="34" charset="-122"/>
                <a:cs typeface="Barlow" pitchFamily="34" charset="-120"/>
              </a:rPr>
              <a:t>Top Featured Earbud Models</a:t>
            </a:r>
            <a:endParaRPr lang="en-US" sz="1450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A12C2C74-9196-1C8C-AB21-E743FF08E9A2}"/>
              </a:ext>
            </a:extLst>
          </p:cNvPr>
          <p:cNvSpPr/>
          <p:nvPr/>
        </p:nvSpPr>
        <p:spPr>
          <a:xfrm>
            <a:off x="7825683" y="5541561"/>
            <a:ext cx="3194565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H3</a:t>
            </a:r>
            <a:endParaRPr lang="en-US" sz="165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CB62497E-BA9C-872D-C809-69B6135C7D67}"/>
              </a:ext>
            </a:extLst>
          </p:cNvPr>
          <p:cNvSpPr/>
          <p:nvPr/>
        </p:nvSpPr>
        <p:spPr>
          <a:xfrm>
            <a:off x="7825683" y="5853007"/>
            <a:ext cx="3194565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latin typeface="Barlow" pitchFamily="34" charset="0"/>
                <a:ea typeface="Barlow" pitchFamily="34" charset="-122"/>
                <a:cs typeface="Barlow" pitchFamily="34" charset="-120"/>
              </a:rPr>
              <a:t>Active Noise Cancellation (ANC) </a:t>
            </a:r>
            <a:r>
              <a:rPr lang="en-US" sz="1450" dirty="0" err="1">
                <a:latin typeface="Barlow" pitchFamily="34" charset="0"/>
                <a:ea typeface="Barlow" pitchFamily="34" charset="-122"/>
                <a:cs typeface="Barlow" pitchFamily="34" charset="-120"/>
              </a:rPr>
              <a:t>Modelsz</a:t>
            </a:r>
            <a:endParaRPr lang="en-US" sz="1450" dirty="0"/>
          </a:p>
        </p:txBody>
      </p:sp>
      <p:sp>
        <p:nvSpPr>
          <p:cNvPr id="70" name="Text 0">
            <a:extLst>
              <a:ext uri="{FF2B5EF4-FFF2-40B4-BE49-F238E27FC236}">
                <a16:creationId xmlns:a16="http://schemas.microsoft.com/office/drawing/2014/main" id="{BAE7D586-D876-508C-642E-987606CB1C1C}"/>
              </a:ext>
            </a:extLst>
          </p:cNvPr>
          <p:cNvSpPr/>
          <p:nvPr/>
        </p:nvSpPr>
        <p:spPr>
          <a:xfrm>
            <a:off x="734200" y="597793"/>
            <a:ext cx="10723294" cy="52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On-Page SEO Implementation Strategy</a:t>
            </a:r>
            <a:endParaRPr lang="en-US" sz="3300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6DF21505-57DB-A612-2B1E-6DC61982D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181" y="343863"/>
            <a:ext cx="1397901" cy="1029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0480D1-6FE2-66DE-8A24-D26426B073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22" t="39989" r="52826" b="49519"/>
          <a:stretch/>
        </p:blipFill>
        <p:spPr>
          <a:xfrm>
            <a:off x="667018" y="4041065"/>
            <a:ext cx="5428780" cy="991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22AA01-DCF2-5F9C-AC45-B4A2A3E7DC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022" t="66992" r="4782" b="15906"/>
          <a:stretch/>
        </p:blipFill>
        <p:spPr>
          <a:xfrm>
            <a:off x="6807695" y="3976308"/>
            <a:ext cx="4559325" cy="1056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6096000" y="1428568"/>
            <a:ext cx="5676597" cy="77366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067"/>
              </a:lnSpc>
            </a:pPr>
            <a:endParaRPr sz="12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8F0FD8F-8936-D9F5-B189-D2EB571AE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645894F-BC75-2B6C-5F33-4CC1372C9747}"/>
              </a:ext>
            </a:extLst>
          </p:cNvPr>
          <p:cNvGrpSpPr/>
          <p:nvPr/>
        </p:nvGrpSpPr>
        <p:grpSpPr>
          <a:xfrm>
            <a:off x="241214" y="694082"/>
            <a:ext cx="11709571" cy="5973417"/>
            <a:chOff x="241214" y="442291"/>
            <a:chExt cx="11709571" cy="597341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ACA7183-0A62-1BDF-1233-95159511C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326" t="6620" r="3479" b="10028"/>
            <a:stretch/>
          </p:blipFill>
          <p:spPr>
            <a:xfrm>
              <a:off x="241214" y="442291"/>
              <a:ext cx="11709571" cy="5973417"/>
            </a:xfrm>
            <a:prstGeom prst="rect">
              <a:avLst/>
            </a:prstGeom>
          </p:spPr>
        </p:pic>
        <p:sp>
          <p:nvSpPr>
            <p:cNvPr id="14" name="Flowchart: Terminator 13">
              <a:extLst>
                <a:ext uri="{FF2B5EF4-FFF2-40B4-BE49-F238E27FC236}">
                  <a16:creationId xmlns:a16="http://schemas.microsoft.com/office/drawing/2014/main" id="{89351614-66A9-6B9E-B8C3-5F55D493C03E}"/>
                </a:ext>
              </a:extLst>
            </p:cNvPr>
            <p:cNvSpPr/>
            <p:nvPr/>
          </p:nvSpPr>
          <p:spPr>
            <a:xfrm>
              <a:off x="649356" y="1338470"/>
              <a:ext cx="2756452" cy="371060"/>
            </a:xfrm>
            <a:prstGeom prst="flowChartTermina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Referral Source Strategy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9E2DB0-57E2-DBEA-4188-C20CCB947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114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538CD-E6A2-A051-6722-E7EFE7D20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29"/>
            <a:ext cx="12192000" cy="681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13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7372803-C285-A1DA-C443-438428B3D490}"/>
              </a:ext>
            </a:extLst>
          </p:cNvPr>
          <p:cNvSpPr/>
          <p:nvPr/>
        </p:nvSpPr>
        <p:spPr>
          <a:xfrm>
            <a:off x="734200" y="591939"/>
            <a:ext cx="10723294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Technical SEO Optimization Framework</a:t>
            </a:r>
            <a:endParaRPr lang="en-US" sz="29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D7DEDB5-B20D-3F73-1052-D12D4434E007}"/>
              </a:ext>
            </a:extLst>
          </p:cNvPr>
          <p:cNvSpPr/>
          <p:nvPr/>
        </p:nvSpPr>
        <p:spPr>
          <a:xfrm>
            <a:off x="734200" y="1408113"/>
            <a:ext cx="3483582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Technical SEO?</a:t>
            </a:r>
            <a:endParaRPr lang="en-US" sz="1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39FC41-D71C-210A-C375-0CA90D4DBE7F}"/>
              </a:ext>
            </a:extLst>
          </p:cNvPr>
          <p:cNvSpPr/>
          <p:nvPr/>
        </p:nvSpPr>
        <p:spPr>
          <a:xfrm>
            <a:off x="734200" y="1781671"/>
            <a:ext cx="3483582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Technical SEO optimizes website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 infrastructure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efficient search engine crawling, indexing, and rendering.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3B3C4E0-7114-2DA8-D467-19DF78E0DC27}"/>
              </a:ext>
            </a:extLst>
          </p:cNvPr>
          <p:cNvSpPr/>
          <p:nvPr/>
        </p:nvSpPr>
        <p:spPr>
          <a:xfrm>
            <a:off x="734200" y="3324423"/>
            <a:ext cx="3483582" cy="2786658"/>
          </a:xfrm>
          <a:prstGeom prst="roundRect">
            <a:avLst>
              <a:gd name="adj" fmla="val 9149"/>
            </a:avLst>
          </a:prstGeom>
          <a:solidFill>
            <a:srgbClr val="171528"/>
          </a:solidFill>
          <a:ln/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68667CB-0767-DBD8-3E5E-C9FEF00C4060}"/>
              </a:ext>
            </a:extLst>
          </p:cNvPr>
          <p:cNvSpPr/>
          <p:nvPr/>
        </p:nvSpPr>
        <p:spPr>
          <a:xfrm>
            <a:off x="938090" y="3494385"/>
            <a:ext cx="3075804" cy="2446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User-agent: *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Disallow: /checkout/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Disallow: /cart/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Disallow: /admin/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Allow: /products/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Allow: /category/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F6FEB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Sitemap: https://www.buynest.in/sitemap.xml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F3DF01C-3C3D-4055-F0CB-497CCD38EF84}"/>
              </a:ext>
            </a:extLst>
          </p:cNvPr>
          <p:cNvSpPr/>
          <p:nvPr/>
        </p:nvSpPr>
        <p:spPr>
          <a:xfrm>
            <a:off x="4638857" y="1964234"/>
            <a:ext cx="6824988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XML Sitemap</a:t>
            </a:r>
            <a:endParaRPr lang="en-US" sz="145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86C631B-B2D6-C307-F83C-20A4FF8BD57E}"/>
              </a:ext>
            </a:extLst>
          </p:cNvPr>
          <p:cNvSpPr/>
          <p:nvPr/>
        </p:nvSpPr>
        <p:spPr>
          <a:xfrm>
            <a:off x="4638857" y="2337792"/>
            <a:ext cx="6824988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Provides search crawlers a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structured index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of all active product and category URLs for accelerated indexing and discovery.</a:t>
            </a:r>
            <a:endParaRPr lang="en-US" sz="13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3BEEA2FD-CCD4-1337-1E6F-05DB7E8C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204" y="2984798"/>
            <a:ext cx="4330294" cy="2570063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BFAF3BA5-6294-3201-4FBB-011C0CFAD24C}"/>
              </a:ext>
            </a:extLst>
          </p:cNvPr>
          <p:cNvSpPr/>
          <p:nvPr/>
        </p:nvSpPr>
        <p:spPr>
          <a:xfrm>
            <a:off x="8900139" y="4970240"/>
            <a:ext cx="1076393" cy="18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Rank</a:t>
            </a:r>
            <a:endParaRPr lang="en-US" sz="11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3D67A20-3A5F-FA1D-390B-79A9F341BC2B}"/>
              </a:ext>
            </a:extLst>
          </p:cNvPr>
          <p:cNvSpPr/>
          <p:nvPr/>
        </p:nvSpPr>
        <p:spPr>
          <a:xfrm>
            <a:off x="7543588" y="4970240"/>
            <a:ext cx="1076393" cy="18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Index</a:t>
            </a:r>
            <a:endParaRPr lang="en-US" sz="11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896044D-3FBB-2BE5-C9EA-FBCA10F3686C}"/>
              </a:ext>
            </a:extLst>
          </p:cNvPr>
          <p:cNvSpPr/>
          <p:nvPr/>
        </p:nvSpPr>
        <p:spPr>
          <a:xfrm>
            <a:off x="6164919" y="4970240"/>
            <a:ext cx="1076394" cy="18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Crawl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86140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2BB2806-ECCE-5189-8058-3879C20F4D15}"/>
              </a:ext>
            </a:extLst>
          </p:cNvPr>
          <p:cNvSpPr/>
          <p:nvPr/>
        </p:nvSpPr>
        <p:spPr>
          <a:xfrm>
            <a:off x="2250886" y="365760"/>
            <a:ext cx="7689726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Web Vitals &amp; Page Speed Metrics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134CCB-BC63-F61F-D303-E4750DE367A2}"/>
              </a:ext>
            </a:extLst>
          </p:cNvPr>
          <p:cNvSpPr/>
          <p:nvPr/>
        </p:nvSpPr>
        <p:spPr>
          <a:xfrm>
            <a:off x="1349440" y="1190625"/>
            <a:ext cx="2285248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&lt;2.5s</a:t>
            </a:r>
            <a:endParaRPr lang="en-US" sz="31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9941EF4-E57F-3FE7-84BC-D22037A2608B}"/>
              </a:ext>
            </a:extLst>
          </p:cNvPr>
          <p:cNvSpPr/>
          <p:nvPr/>
        </p:nvSpPr>
        <p:spPr>
          <a:xfrm>
            <a:off x="734200" y="1704876"/>
            <a:ext cx="3515828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LCP Target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A3FBC8-440A-81BC-7002-7FA5C898E2ED}"/>
              </a:ext>
            </a:extLst>
          </p:cNvPr>
          <p:cNvSpPr/>
          <p:nvPr/>
        </p:nvSpPr>
        <p:spPr>
          <a:xfrm>
            <a:off x="4953075" y="1190625"/>
            <a:ext cx="2285348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&lt;0.1</a:t>
            </a:r>
            <a:endParaRPr lang="en-US" sz="3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467E23-AFDA-B9BB-6A10-29BDB13EB1B2}"/>
              </a:ext>
            </a:extLst>
          </p:cNvPr>
          <p:cNvSpPr/>
          <p:nvPr/>
        </p:nvSpPr>
        <p:spPr>
          <a:xfrm>
            <a:off x="4337834" y="1704876"/>
            <a:ext cx="3515927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CLS Score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EC89EE-DE41-FFC0-C266-2D7DCBF7ABBF}"/>
              </a:ext>
            </a:extLst>
          </p:cNvPr>
          <p:cNvSpPr/>
          <p:nvPr/>
        </p:nvSpPr>
        <p:spPr>
          <a:xfrm>
            <a:off x="4337834" y="1915716"/>
            <a:ext cx="3515927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Cumulative Layout Shift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Score below 0.1 prevents unexpected layout shifts during ad loads and dynamic content rendering.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E7B293-895E-5FD3-9A74-53F919769B8F}"/>
              </a:ext>
            </a:extLst>
          </p:cNvPr>
          <p:cNvSpPr/>
          <p:nvPr/>
        </p:nvSpPr>
        <p:spPr>
          <a:xfrm>
            <a:off x="8556808" y="1190625"/>
            <a:ext cx="2285348" cy="4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INP</a:t>
            </a:r>
            <a:endParaRPr lang="en-US" sz="31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40CE844-5BF7-8611-2A23-27A858AE3D11}"/>
              </a:ext>
            </a:extLst>
          </p:cNvPr>
          <p:cNvSpPr/>
          <p:nvPr/>
        </p:nvSpPr>
        <p:spPr>
          <a:xfrm>
            <a:off x="7941568" y="1704876"/>
            <a:ext cx="3515927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Interaction Speed</a:t>
            </a: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A561ABB-A122-1FBD-48D9-CD2AFA9710FC}"/>
              </a:ext>
            </a:extLst>
          </p:cNvPr>
          <p:cNvSpPr/>
          <p:nvPr/>
        </p:nvSpPr>
        <p:spPr>
          <a:xfrm>
            <a:off x="7941568" y="1915716"/>
            <a:ext cx="3515927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Interaction to Next Paint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Optimized JavaScript execution ensures instant click responses and frictionless navigation.</a:t>
            </a:r>
            <a:endParaRPr lang="en-US" sz="950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9AAB9797-75CB-50BC-F530-223E4D42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57" y="2484456"/>
            <a:ext cx="7689726" cy="4307545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9B8EF04F-EBB1-48F3-5002-62A6808412CF}"/>
              </a:ext>
            </a:extLst>
          </p:cNvPr>
          <p:cNvSpPr/>
          <p:nvPr/>
        </p:nvSpPr>
        <p:spPr>
          <a:xfrm>
            <a:off x="734200" y="1915716"/>
            <a:ext cx="3515828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Largest Contentful Paint</a:t>
            </a: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Main product images must load within 2.5 seconds to maintain user engagement and reduce bounce rate.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12514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7AA4851-5722-2DA4-CBF0-D11CD8C89AB6}"/>
              </a:ext>
            </a:extLst>
          </p:cNvPr>
          <p:cNvSpPr/>
          <p:nvPr/>
        </p:nvSpPr>
        <p:spPr>
          <a:xfrm>
            <a:off x="734200" y="576957"/>
            <a:ext cx="10723294" cy="4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Competitor Analysis: BuyNest vs. Flipkart</a:t>
            </a:r>
            <a:endParaRPr lang="en-US" sz="31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33D0EB9-133E-70E5-806B-181E7B5F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0" y="1481931"/>
            <a:ext cx="4627943" cy="4628059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8CD09D4-F756-F6F1-E9C8-DD3B532BC8BA}"/>
              </a:ext>
            </a:extLst>
          </p:cNvPr>
          <p:cNvSpPr/>
          <p:nvPr/>
        </p:nvSpPr>
        <p:spPr>
          <a:xfrm>
            <a:off x="6321664" y="1825625"/>
            <a:ext cx="5142181" cy="24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Differentiators</a:t>
            </a:r>
            <a:endParaRPr lang="en-US" sz="15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89875F8-FF18-3456-F3B1-61CDBEC29DE1}"/>
              </a:ext>
            </a:extLst>
          </p:cNvPr>
          <p:cNvSpPr/>
          <p:nvPr/>
        </p:nvSpPr>
        <p:spPr>
          <a:xfrm>
            <a:off x="6321664" y="2229743"/>
            <a:ext cx="5142181" cy="80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While Flipkart dominates on sheer scale and domain authority, BuyNest's competitive advantage lies in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precision targeting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content quality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86984D2-2FC7-E1C7-4106-A199C54D5C2E}"/>
              </a:ext>
            </a:extLst>
          </p:cNvPr>
          <p:cNvSpPr/>
          <p:nvPr/>
        </p:nvSpPr>
        <p:spPr>
          <a:xfrm>
            <a:off x="6321664" y="3171130"/>
            <a:ext cx="5142181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 Gap: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Flipkart 85+ vs. BuyNest target 35+</a:t>
            </a:r>
            <a:endParaRPr lang="en-US" sz="1400" dirty="0"/>
          </a:p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Backlinks: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News outlets vs. niche gadget blogs</a:t>
            </a:r>
            <a:endParaRPr lang="en-US" sz="1400" dirty="0"/>
          </a:p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Content: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Automated catalogs vs. curated guides</a:t>
            </a:r>
            <a:endParaRPr lang="en-US" sz="1400" dirty="0"/>
          </a:p>
          <a:p>
            <a:pPr marL="284480" indent="-284480" algn="l">
              <a:lnSpc>
                <a:spcPct val="124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Keywords: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Generic volume vs. high-intent long-tail</a:t>
            </a:r>
            <a:endParaRPr lang="en-US" sz="14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7992F71-2B75-4418-2ACA-22048782EE82}"/>
              </a:ext>
            </a:extLst>
          </p:cNvPr>
          <p:cNvSpPr/>
          <p:nvPr/>
        </p:nvSpPr>
        <p:spPr>
          <a:xfrm>
            <a:off x="6321664" y="4576663"/>
            <a:ext cx="5142181" cy="1170186"/>
          </a:xfrm>
          <a:prstGeom prst="roundRect">
            <a:avLst>
              <a:gd name="adj" fmla="val 23069"/>
            </a:avLst>
          </a:prstGeom>
          <a:solidFill>
            <a:srgbClr val="00805A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62BF1A7-3BCB-9592-5018-CFB0BF2E83CD}"/>
              </a:ext>
            </a:extLst>
          </p:cNvPr>
          <p:cNvSpPr/>
          <p:nvPr/>
        </p:nvSpPr>
        <p:spPr>
          <a:xfrm>
            <a:off x="6906345" y="4760516"/>
            <a:ext cx="4377620" cy="80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BuyNest's long-tail keyword strategy targets buyers closer to the point of purchase — yielding higher conversion rates per visitor.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24511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76EA1656-627A-1E58-FE6E-E5FF7F3AE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086" y="4511078"/>
            <a:ext cx="6151409" cy="1712221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2A7EA043-747B-D662-2EF3-AF36B4AB9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6086" y="1887041"/>
            <a:ext cx="3006848" cy="2417564"/>
          </a:xfrm>
          <a:prstGeom prst="rect">
            <a:avLst/>
          </a:prstGeom>
        </p:spPr>
      </p:pic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6ADAECEE-EEC3-13AA-B385-99B73CAA87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0548" y="1887041"/>
            <a:ext cx="3006947" cy="2417564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132D8A72-FBF8-3157-EFBC-032918B8A07D}"/>
              </a:ext>
            </a:extLst>
          </p:cNvPr>
          <p:cNvSpPr/>
          <p:nvPr/>
        </p:nvSpPr>
        <p:spPr>
          <a:xfrm>
            <a:off x="5495093" y="2566789"/>
            <a:ext cx="2628834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E-commerce Schema Markup</a:t>
            </a:r>
            <a:endParaRPr lang="en-US" sz="145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014C534-04AA-DEF5-9FCE-433D9E0764F1}"/>
              </a:ext>
            </a:extLst>
          </p:cNvPr>
          <p:cNvSpPr/>
          <p:nvPr/>
        </p:nvSpPr>
        <p:spPr>
          <a:xfrm>
            <a:off x="5495093" y="2885281"/>
            <a:ext cx="2628834" cy="123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Implement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JSON-LD structured data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product price, stock status, and review ratings to enable Google Rich Snippets and enhance SERP visibility.</a:t>
            </a:r>
            <a:endParaRPr lang="en-US" sz="13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8E9EEE9A-2B7F-5463-1480-9E68E7022100}"/>
              </a:ext>
            </a:extLst>
          </p:cNvPr>
          <p:cNvSpPr/>
          <p:nvPr/>
        </p:nvSpPr>
        <p:spPr>
          <a:xfrm>
            <a:off x="8639554" y="2566789"/>
            <a:ext cx="2628933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Interactive Buying Guide Hub</a:t>
            </a:r>
            <a:endParaRPr lang="en-US" sz="14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72EE594B-DFE3-B51B-CEB9-64F855215A34}"/>
              </a:ext>
            </a:extLst>
          </p:cNvPr>
          <p:cNvSpPr/>
          <p:nvPr/>
        </p:nvSpPr>
        <p:spPr>
          <a:xfrm>
            <a:off x="8639554" y="2885281"/>
            <a:ext cx="2628933" cy="984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Publish curated blog content (e.g., </a:t>
            </a: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"Top 10 Laptops for Students"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 to capture informational search queries and build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topical authority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779C807F-CBB2-3EDF-C009-4D5A45FEC963}"/>
              </a:ext>
            </a:extLst>
          </p:cNvPr>
          <p:cNvSpPr/>
          <p:nvPr/>
        </p:nvSpPr>
        <p:spPr>
          <a:xfrm>
            <a:off x="860830" y="416073"/>
            <a:ext cx="8074853" cy="11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 Key Improvement Recommendations</a:t>
            </a:r>
            <a:endParaRPr lang="en-US" sz="36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D10F006-E8EA-4DE6-E148-539DBB038419}"/>
              </a:ext>
            </a:extLst>
          </p:cNvPr>
          <p:cNvSpPr/>
          <p:nvPr/>
        </p:nvSpPr>
        <p:spPr>
          <a:xfrm>
            <a:off x="5495093" y="5121970"/>
            <a:ext cx="5773395" cy="235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 Core Web Vitals Optimization</a:t>
            </a:r>
            <a:endParaRPr lang="en-US" sz="14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C5F09BE-92FD-018A-64CF-D7548440C05B}"/>
              </a:ext>
            </a:extLst>
          </p:cNvPr>
          <p:cNvSpPr/>
          <p:nvPr/>
        </p:nvSpPr>
        <p:spPr>
          <a:xfrm>
            <a:off x="5495093" y="5440462"/>
            <a:ext cx="5773395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Improve </a:t>
            </a:r>
            <a:r>
              <a:rPr 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Largest Contentful Paint (LCP)</a:t>
            </a: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interaction speed for a seamless mobile checkout experience across all device categories.</a:t>
            </a:r>
            <a:endParaRPr lang="en-US" sz="13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B0742FA-A186-B301-1E83-C64BFDC9021B}"/>
              </a:ext>
            </a:extLst>
          </p:cNvPr>
          <p:cNvSpPr/>
          <p:nvPr/>
        </p:nvSpPr>
        <p:spPr>
          <a:xfrm>
            <a:off x="6707565" y="2014538"/>
            <a:ext cx="203889" cy="254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CE94F6E8-F6E2-CE31-DC4E-53518B55A9DA}"/>
              </a:ext>
            </a:extLst>
          </p:cNvPr>
          <p:cNvSpPr/>
          <p:nvPr/>
        </p:nvSpPr>
        <p:spPr>
          <a:xfrm>
            <a:off x="9852027" y="2014538"/>
            <a:ext cx="203889" cy="254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BACA9142-6D71-24A6-1ECF-98C697403540}"/>
              </a:ext>
            </a:extLst>
          </p:cNvPr>
          <p:cNvSpPr/>
          <p:nvPr/>
        </p:nvSpPr>
        <p:spPr>
          <a:xfrm>
            <a:off x="8279845" y="4665217"/>
            <a:ext cx="203889" cy="254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7A9BE6B-012F-151A-325C-4D6DBC4E5AB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7256"/>
          <a:stretch/>
        </p:blipFill>
        <p:spPr>
          <a:xfrm>
            <a:off x="363228" y="2548722"/>
            <a:ext cx="4753850" cy="313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09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E7D6AE-8893-C394-2522-EFC934C0A7FC}"/>
              </a:ext>
            </a:extLst>
          </p:cNvPr>
          <p:cNvSpPr/>
          <p:nvPr/>
        </p:nvSpPr>
        <p:spPr>
          <a:xfrm>
            <a:off x="2358887" y="360142"/>
            <a:ext cx="9073209" cy="1110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 &amp; Future Roadmap</a:t>
            </a:r>
            <a:endParaRPr lang="en-US" sz="345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1A0C1CB2-E14F-F022-FBE6-D2E8086BE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0687" y="2011065"/>
            <a:ext cx="2981945" cy="231675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8090E22-8F3C-03D5-55BF-6D1B5B5E0339}"/>
              </a:ext>
            </a:extLst>
          </p:cNvPr>
          <p:cNvSpPr/>
          <p:nvPr/>
        </p:nvSpPr>
        <p:spPr>
          <a:xfrm>
            <a:off x="5556806" y="2036465"/>
            <a:ext cx="2705826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Strategic Summary</a:t>
            </a:r>
            <a:endParaRPr lang="en-US" sz="17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C76EF52-E41C-917C-FE9B-A6FBAB2313BC}"/>
              </a:ext>
            </a:extLst>
          </p:cNvPr>
          <p:cNvSpPr/>
          <p:nvPr/>
        </p:nvSpPr>
        <p:spPr>
          <a:xfrm>
            <a:off x="5556806" y="2428379"/>
            <a:ext cx="2705826" cy="1874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Balanced execution of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on-page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off-page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SEO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enables BuyNest to build organic visibility, lower acquisition costs, and compete effectively against Flipkart.</a:t>
            </a:r>
            <a:endParaRPr lang="en-US" sz="155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FB47C045-CDC9-4E69-0318-224B90DA17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5450" y="2011065"/>
            <a:ext cx="2982044" cy="231675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A756CD35-DC61-B487-2CBB-366200F7C6A6}"/>
              </a:ext>
            </a:extLst>
          </p:cNvPr>
          <p:cNvSpPr/>
          <p:nvPr/>
        </p:nvSpPr>
        <p:spPr>
          <a:xfrm>
            <a:off x="8751569" y="2036465"/>
            <a:ext cx="2705925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Initiatives</a:t>
            </a:r>
            <a:endParaRPr lang="en-US" sz="17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0637805-407F-5D0D-8F59-07F0603E3CB7}"/>
              </a:ext>
            </a:extLst>
          </p:cNvPr>
          <p:cNvSpPr/>
          <p:nvPr/>
        </p:nvSpPr>
        <p:spPr>
          <a:xfrm>
            <a:off x="8751569" y="2428379"/>
            <a:ext cx="2705925" cy="1874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Continuous content expansion,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voice search optimization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aggressive backlink acquisition from high-authority Indian e-commerce and tech publications.</a:t>
            </a:r>
            <a:endParaRPr lang="en-US" sz="155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1606AD33-DA48-753C-332D-3F336BC756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0687" y="4658122"/>
            <a:ext cx="6176808" cy="10673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649BEE84-F129-EFC1-ADD4-EC3946299EB9}"/>
              </a:ext>
            </a:extLst>
          </p:cNvPr>
          <p:cNvSpPr/>
          <p:nvPr/>
        </p:nvSpPr>
        <p:spPr>
          <a:xfrm>
            <a:off x="5556806" y="4683522"/>
            <a:ext cx="5900689" cy="277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Closing Statement</a:t>
            </a:r>
            <a:endParaRPr lang="en-US" sz="17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EB4B106-DA54-6F92-D9E3-A6960807BA5F}"/>
              </a:ext>
            </a:extLst>
          </p:cNvPr>
          <p:cNvSpPr/>
          <p:nvPr/>
        </p:nvSpPr>
        <p:spPr>
          <a:xfrm>
            <a:off x="5556806" y="5075436"/>
            <a:ext cx="5900689" cy="624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 for your time and attention. This presentation is open for questions and academic discussion.</a:t>
            </a:r>
            <a:endParaRPr lang="en-US" sz="155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32DFC37C-2C43-DA7C-876B-31AD712F7E52}"/>
              </a:ext>
            </a:extLst>
          </p:cNvPr>
          <p:cNvSpPr/>
          <p:nvPr/>
        </p:nvSpPr>
        <p:spPr>
          <a:xfrm>
            <a:off x="5306086" y="5914529"/>
            <a:ext cx="5565338" cy="303709"/>
          </a:xfrm>
          <a:prstGeom prst="roundRect">
            <a:avLst>
              <a:gd name="adj" fmla="val 49999"/>
            </a:avLst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DAA062E-AF3D-5FE8-792A-6F050A3702B8}"/>
              </a:ext>
            </a:extLst>
          </p:cNvPr>
          <p:cNvSpPr/>
          <p:nvPr/>
        </p:nvSpPr>
        <p:spPr>
          <a:xfrm>
            <a:off x="5426038" y="5974457"/>
            <a:ext cx="5935018" cy="183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HARSH TANWAR | BCA | DEPT. OF COMPUTER APPLICATIONS | +91 8209357455</a:t>
            </a:r>
            <a:endParaRPr lang="en-US" sz="12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13B4E7-E446-790B-36F6-D13FEFACAE4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889" t="22371" r="67139" b="16642"/>
          <a:stretch/>
        </p:blipFill>
        <p:spPr>
          <a:xfrm>
            <a:off x="411022" y="1750616"/>
            <a:ext cx="4164018" cy="466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82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D650BB-0F30-EA4E-2246-58D14F09E4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069" y="837685"/>
            <a:ext cx="7325863" cy="518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0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6FFB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836</TotalTime>
  <Words>966</Words>
  <Application>Microsoft Office PowerPoint</Application>
  <PresentationFormat>Widescreen</PresentationFormat>
  <Paragraphs>131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Barlow Bold</vt:lpstr>
      <vt:lpstr>Calibri Light</vt:lpstr>
      <vt:lpstr>Consolas Bold</vt:lpstr>
      <vt:lpstr>Arial</vt:lpstr>
      <vt:lpstr>Calibri-Bold</vt:lpstr>
      <vt:lpstr>Barlow</vt:lpstr>
      <vt:lpstr>Spline Sans Bold</vt:lpstr>
      <vt:lpstr>Open Sauce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Shree</dc:creator>
  <cp:lastModifiedBy>Harsh Tanwar</cp:lastModifiedBy>
  <cp:revision>9</cp:revision>
  <dcterms:created xsi:type="dcterms:W3CDTF">2026-08-04T19:45:48Z</dcterms:created>
  <dcterms:modified xsi:type="dcterms:W3CDTF">2026-06-17T04:52:45Z</dcterms:modified>
</cp:coreProperties>
</file>