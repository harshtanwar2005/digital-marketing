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6" r:id="rId2"/>
    <p:sldId id="305" r:id="rId3"/>
    <p:sldId id="274" r:id="rId4"/>
    <p:sldId id="275" r:id="rId5"/>
    <p:sldId id="256" r:id="rId6"/>
    <p:sldId id="307" r:id="rId7"/>
    <p:sldId id="308" r:id="rId8"/>
    <p:sldId id="309" r:id="rId9"/>
    <p:sldId id="310" r:id="rId10"/>
    <p:sldId id="311" r:id="rId11"/>
    <p:sldId id="312" r:id="rId12"/>
    <p:sldId id="313" r:id="rId13"/>
    <p:sldId id="314" r:id="rId14"/>
    <p:sldId id="315" r:id="rId15"/>
    <p:sldId id="316" r:id="rId16"/>
    <p:sldId id="317" r:id="rId17"/>
    <p:sldId id="318" r:id="rId18"/>
    <p:sldId id="319" r:id="rId19"/>
    <p:sldId id="320" r:id="rId20"/>
    <p:sldId id="321" r:id="rId21"/>
    <p:sldId id="32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-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BB279-99D7-56AD-B386-16343B71A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691D6A-3C2B-783F-C8DB-1A395C92A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254CB-EF91-C339-0623-011299186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83921-2952-43C7-96CC-054D4673DD47}" type="datetimeFigureOut">
              <a:rPr lang="en-IN" smtClean="0"/>
              <a:t>17-06-2026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5C16E-1520-6A4A-7285-F85745D2D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74527-78FF-5BD0-8CEC-65B908B47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E3E21-360E-44C0-B6A4-83F089900AC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3594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FF4A7-5021-9DFF-3F8C-223421476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6A9D0-4AD2-1CEF-0BA5-6DEC7D0A5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77F71-2933-27C6-61B0-92EE2678F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83921-2952-43C7-96CC-054D4673DD47}" type="datetimeFigureOut">
              <a:rPr lang="en-IN" smtClean="0"/>
              <a:t>17-06-2026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D0052-1CC3-E689-DFD0-94586488D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4857E-6D84-F68C-7301-AA78C7020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E3E21-360E-44C0-B6A4-83F089900AC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6862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1D824-94FE-CDBD-4254-E7AD9CA91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3262F-4EFF-DF66-4591-40EF96568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678D5-A5C1-5E60-F7A2-BB3F4896A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83921-2952-43C7-96CC-054D4673DD47}" type="datetimeFigureOut">
              <a:rPr lang="en-IN" smtClean="0"/>
              <a:t>17-06-2026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D1F92-483A-3A77-766E-8CF98EF79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36419-451D-AFA7-25DE-05B896F66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E3E21-360E-44C0-B6A4-83F089900AC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3368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80720-06DB-B1A3-AF95-AA696C604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BA925-0C17-1974-CA29-0546E729C3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0AAB0-FBB1-350C-E4A2-B190E0D9AA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56242C-CA60-46E9-9DDC-3DE482DBF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83921-2952-43C7-96CC-054D4673DD47}" type="datetimeFigureOut">
              <a:rPr lang="en-IN" smtClean="0"/>
              <a:t>17-06-2026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EAE9C2-6F86-5007-C85D-92AA5ECA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547417-E9E9-4086-21CD-692745C0A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E3E21-360E-44C0-B6A4-83F089900AC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4953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10AD9-15A9-D401-7D79-EC4E56089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84C58F-7865-BF84-6952-B0874BF7C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76A90-8BF0-C4A8-10E8-B5F959394E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D1AE69-FC08-F7F9-7010-23CEDB4C7A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1C9753-1CB8-A137-12F2-6E2F30A086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417199-1DC6-EE7E-6E5F-AA58EC3C8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83921-2952-43C7-96CC-054D4673DD47}" type="datetimeFigureOut">
              <a:rPr lang="en-IN" smtClean="0"/>
              <a:t>17-06-2026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5F0C1C-B3B3-A4BF-FD12-AFAAFCE35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598150-FB6C-47CB-620E-7AF6A2859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E3E21-360E-44C0-B6A4-83F089900AC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0437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49FE1-0A58-C06F-8981-01E4190EC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F1CBB5-7498-FF3D-26F8-F477000F5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83921-2952-43C7-96CC-054D4673DD47}" type="datetimeFigureOut">
              <a:rPr lang="en-IN" smtClean="0"/>
              <a:t>17-06-2026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F18FF2-7458-69D4-CB95-18AD4B259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A732A1-691A-D09F-F64E-D28302746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E3E21-360E-44C0-B6A4-83F089900AC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6667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0D90D2-352A-77DA-BE0B-B1D397DE2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83921-2952-43C7-96CC-054D4673DD47}" type="datetimeFigureOut">
              <a:rPr lang="en-IN" smtClean="0"/>
              <a:t>17-06-2026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46F134-B276-D013-8FE1-5FD4658B3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EE862-119E-5BC9-F1B7-BEF43D0EC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E3E21-360E-44C0-B6A4-83F089900AC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7372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91C72-1AB9-3C31-FE92-968F232E9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E5196-916B-3D1D-16FB-6849341C5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B94471-7CB5-0D6E-1EB8-8DBDD4BB4E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57B286-EE88-F172-79EA-32FC30780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83921-2952-43C7-96CC-054D4673DD47}" type="datetimeFigureOut">
              <a:rPr lang="en-IN" smtClean="0"/>
              <a:t>17-06-2026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86FE3-E808-9D13-0E5E-4999DB121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1A10D-FDAF-92FD-922D-D86E21E5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E3E21-360E-44C0-B6A4-83F089900AC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8396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F180F-E15E-D0C0-4AFC-79D18D43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F9BB66-D9B2-3F45-A53D-DFDFDA510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C74F4F-7179-8F4F-9AA6-EFE1B0A92A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69DC3-5927-FBCB-A4BD-6B55E4B66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83921-2952-43C7-96CC-054D4673DD47}" type="datetimeFigureOut">
              <a:rPr lang="en-IN" smtClean="0"/>
              <a:t>17-06-2026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3B0DE-BCCF-F251-DFD9-87E9C9F05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7B667A-38E8-D5C6-3F70-7FE8ACAA3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E3E21-360E-44C0-B6A4-83F089900AC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3541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2D8B0-7884-F720-A644-07EE0914E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F405B9-A1D0-DFC7-B578-EC1134190F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0E8FB-E199-EE05-2404-05FE633DE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83921-2952-43C7-96CC-054D4673DD47}" type="datetimeFigureOut">
              <a:rPr lang="en-IN" smtClean="0"/>
              <a:t>17-06-2026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4F2C8-8A2A-6C2C-7B5F-5E600A2E2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5A107-46DA-EF69-D2AA-47002B657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E3E21-360E-44C0-B6A4-83F089900AC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8656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17CEBA-0196-3C19-A569-2B65AFCCB7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B01D54-A5C9-5D35-512E-B320C7059F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0509F-0640-0566-67E2-16F716CEB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83921-2952-43C7-96CC-054D4673DD47}" type="datetimeFigureOut">
              <a:rPr lang="en-IN" smtClean="0"/>
              <a:t>17-06-2026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CF7FF-D815-ED75-E027-C92B5BDF0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8BA23-4103-BB23-E8F4-67BBA5E4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E3E21-360E-44C0-B6A4-83F089900AC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419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68DA18-640A-4643-692A-D9239E7F0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EB1BF-6256-C2E0-309C-BBC730084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66C24-6702-AE61-24AD-05FF36237B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83921-2952-43C7-96CC-054D4673DD47}" type="datetimeFigureOut">
              <a:rPr lang="en-IN" smtClean="0"/>
              <a:t>17-06-2026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2E03C-E6A5-1A1E-F0A2-2BA8654371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2AF15-6C23-A218-7CF7-28BF971BF8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CE3E21-360E-44C0-B6A4-83F089900AC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2155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FC0FA3-AD0F-C739-1A29-A34FFFCBEE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8E2C900-55FE-047B-5EB7-73236396761A}"/>
              </a:ext>
            </a:extLst>
          </p:cNvPr>
          <p:cNvSpPr txBox="1"/>
          <p:nvPr/>
        </p:nvSpPr>
        <p:spPr>
          <a:xfrm>
            <a:off x="8391940" y="5465408"/>
            <a:ext cx="3667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Submitted :- Harsh Tanwar  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8ADA12-B4CD-ECC4-D4E9-F5DCAB5AE558}"/>
              </a:ext>
            </a:extLst>
          </p:cNvPr>
          <p:cNvSpPr txBox="1"/>
          <p:nvPr/>
        </p:nvSpPr>
        <p:spPr>
          <a:xfrm>
            <a:off x="8391940" y="5865518"/>
            <a:ext cx="3667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BCA 3</a:t>
            </a:r>
            <a:r>
              <a:rPr lang="en-US" sz="2000" b="1" baseline="30000" dirty="0">
                <a:solidFill>
                  <a:schemeClr val="bg1"/>
                </a:solidFill>
              </a:rPr>
              <a:t>rd</a:t>
            </a:r>
            <a:r>
              <a:rPr lang="en-US" sz="2000" b="1" dirty="0">
                <a:solidFill>
                  <a:schemeClr val="bg1"/>
                </a:solidFill>
              </a:rPr>
              <a:t> Sem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7DE81C-BD9A-71EB-D4B9-56A9C1C18E68}"/>
              </a:ext>
            </a:extLst>
          </p:cNvPr>
          <p:cNvSpPr txBox="1"/>
          <p:nvPr/>
        </p:nvSpPr>
        <p:spPr>
          <a:xfrm>
            <a:off x="8391940" y="6273248"/>
            <a:ext cx="3667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Session 2025 - 2028</a:t>
            </a:r>
            <a:endParaRPr lang="en-IN" sz="2000" b="1" dirty="0">
              <a:solidFill>
                <a:schemeClr val="bg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57A6BE8-49C9-2F4F-D51A-A1C0D4FA56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2144"/>
            <a:ext cx="3109348" cy="219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284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EB13EC-26ED-EE27-44A5-B2DD2D1F9223}"/>
              </a:ext>
            </a:extLst>
          </p:cNvPr>
          <p:cNvSpPr txBox="1"/>
          <p:nvPr/>
        </p:nvSpPr>
        <p:spPr>
          <a:xfrm>
            <a:off x="5003800" y="687008"/>
            <a:ext cx="2184400" cy="3747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1600" b="1" dirty="0">
                <a:solidFill>
                  <a:srgbClr val="000000"/>
                </a:solidFill>
                <a:latin typeface="Calibri-Bold"/>
              </a:rPr>
              <a:t>Assignment Folio of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Digital Marketing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b="1" dirty="0">
                <a:solidFill>
                  <a:srgbClr val="000000"/>
                </a:solidFill>
                <a:latin typeface="Calibri-Bold"/>
              </a:rPr>
              <a:t>Submitted to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Dezyne</a:t>
            </a: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 École College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Toward Digital Marketing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b="1" dirty="0">
                <a:solidFill>
                  <a:srgbClr val="000000"/>
                </a:solidFill>
                <a:latin typeface="Calibri-Bold"/>
              </a:rPr>
              <a:t>By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BCA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3</a:t>
            </a:r>
            <a:r>
              <a:rPr lang="en-IN" sz="1600" baseline="30000" dirty="0">
                <a:solidFill>
                  <a:srgbClr val="000000"/>
                </a:solidFill>
                <a:latin typeface="Calibri" panose="020F0502020204030204" pitchFamily="34" charset="0"/>
              </a:rPr>
              <a:t>rd</a:t>
            </a:r>
            <a:r>
              <a:rPr lang="en-IN" sz="933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Semester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Harsh Tanwar</a:t>
            </a:r>
            <a:endParaRPr lang="en-IN" sz="1333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50A74A-4634-1C3A-DA39-EDAD7B948D52}"/>
              </a:ext>
            </a:extLst>
          </p:cNvPr>
          <p:cNvSpPr txBox="1"/>
          <p:nvPr/>
        </p:nvSpPr>
        <p:spPr>
          <a:xfrm>
            <a:off x="5086483" y="5141384"/>
            <a:ext cx="2184400" cy="1301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1345" dirty="0" err="1">
                <a:solidFill>
                  <a:srgbClr val="000000"/>
                </a:solidFill>
                <a:latin typeface="Calibri" panose="020F0502020204030204" pitchFamily="34" charset="0"/>
              </a:rPr>
              <a:t>Dezyne</a:t>
            </a:r>
            <a:r>
              <a:rPr lang="en-IN" sz="1345" dirty="0">
                <a:solidFill>
                  <a:srgbClr val="000000"/>
                </a:solidFill>
                <a:latin typeface="Calibri" panose="020F0502020204030204" pitchFamily="34" charset="0"/>
              </a:rPr>
              <a:t> École College </a:t>
            </a:r>
            <a:endParaRPr lang="en-IN" sz="1200" dirty="0"/>
          </a:p>
          <a:p>
            <a:pPr algn="ctr">
              <a:lnSpc>
                <a:spcPct val="150000"/>
              </a:lnSpc>
              <a:buNone/>
            </a:pPr>
            <a:r>
              <a:rPr lang="en-IN" sz="1344" dirty="0">
                <a:solidFill>
                  <a:srgbClr val="000000"/>
                </a:solidFill>
                <a:latin typeface="Calibri" panose="020F0502020204030204" pitchFamily="34" charset="0"/>
              </a:rPr>
              <a:t>106/10, Civil Lines, Ajmer </a:t>
            </a:r>
            <a:endParaRPr lang="en-IN" sz="1200" dirty="0"/>
          </a:p>
          <a:p>
            <a:pPr algn="ctr">
              <a:lnSpc>
                <a:spcPct val="150000"/>
              </a:lnSpc>
              <a:buNone/>
            </a:pPr>
            <a:r>
              <a:rPr lang="en-IN" sz="1344" dirty="0">
                <a:solidFill>
                  <a:srgbClr val="0563C1"/>
                </a:solidFill>
                <a:latin typeface="Calibri" panose="020F0502020204030204" pitchFamily="34" charset="0"/>
              </a:rPr>
              <a:t>www.dezyneecole.com </a:t>
            </a:r>
            <a:endParaRPr lang="en-IN" sz="1200" dirty="0"/>
          </a:p>
          <a:p>
            <a:pPr algn="ctr">
              <a:lnSpc>
                <a:spcPct val="150000"/>
              </a:lnSpc>
              <a:buNone/>
            </a:pPr>
            <a:r>
              <a:rPr lang="en-IN" sz="1344" dirty="0">
                <a:solidFill>
                  <a:srgbClr val="000000"/>
                </a:solidFill>
                <a:latin typeface="Calibri" panose="020F0502020204030204" pitchFamily="34" charset="0"/>
              </a:rPr>
              <a:t>2026-2027</a:t>
            </a:r>
            <a:endParaRPr lang="en-I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EA7E42-3A26-054A-D88A-95B766956A64}"/>
              </a:ext>
            </a:extLst>
          </p:cNvPr>
          <p:cNvSpPr txBox="1"/>
          <p:nvPr/>
        </p:nvSpPr>
        <p:spPr>
          <a:xfrm>
            <a:off x="5399587" y="4434444"/>
            <a:ext cx="1558191" cy="766831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2F0550-94A1-FBDC-039C-D0EB5C4FF530}"/>
              </a:ext>
            </a:extLst>
          </p:cNvPr>
          <p:cNvSpPr txBox="1"/>
          <p:nvPr/>
        </p:nvSpPr>
        <p:spPr>
          <a:xfrm>
            <a:off x="508000" y="78740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0000"/>
                </a:solidFill>
                <a:latin typeface="Calibri-Bold"/>
              </a:rPr>
              <a:t>ASSIGNMENT FOLIO</a:t>
            </a:r>
            <a:endParaRPr lang="en-IN" sz="1867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75D537-37F4-A0CE-9312-76D462FB4E9F}"/>
              </a:ext>
            </a:extLst>
          </p:cNvPr>
          <p:cNvSpPr txBox="1"/>
          <p:nvPr/>
        </p:nvSpPr>
        <p:spPr>
          <a:xfrm>
            <a:off x="9296400" y="416841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/>
              <a:t>Assignment Report</a:t>
            </a:r>
            <a:endParaRPr lang="en-IN" sz="2133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27FBA3-4DD0-AB9D-C22D-1122D16EBA2B}"/>
              </a:ext>
            </a:extLst>
          </p:cNvPr>
          <p:cNvSpPr txBox="1"/>
          <p:nvPr/>
        </p:nvSpPr>
        <p:spPr>
          <a:xfrm>
            <a:off x="518160" y="386080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1"/>
                </a:solidFill>
              </a:rPr>
              <a:t>Digital Marketing</a:t>
            </a:r>
            <a:endParaRPr lang="en-IN" sz="2667" dirty="0">
              <a:solidFill>
                <a:schemeClr val="accent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8E334B-6BAC-F519-E8AA-AF7C1B257022}"/>
              </a:ext>
            </a:extLst>
          </p:cNvPr>
          <p:cNvSpPr txBox="1"/>
          <p:nvPr/>
        </p:nvSpPr>
        <p:spPr>
          <a:xfrm>
            <a:off x="513080" y="603313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185B20-FC65-089D-DB93-1FE99D2E146C}"/>
              </a:ext>
            </a:extLst>
          </p:cNvPr>
          <p:cNvSpPr txBox="1"/>
          <p:nvPr/>
        </p:nvSpPr>
        <p:spPr>
          <a:xfrm>
            <a:off x="528320" y="6287270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</p:spTree>
    <p:extLst>
      <p:ext uri="{BB962C8B-B14F-4D97-AF65-F5344CB8AC3E}">
        <p14:creationId xmlns:p14="http://schemas.microsoft.com/office/powerpoint/2010/main" val="1698135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041502-3019-C200-A4C0-4F0FB47E909D}"/>
              </a:ext>
            </a:extLst>
          </p:cNvPr>
          <p:cNvSpPr txBox="1"/>
          <p:nvPr/>
        </p:nvSpPr>
        <p:spPr>
          <a:xfrm>
            <a:off x="508000" y="78740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0000"/>
                </a:solidFill>
                <a:latin typeface="Calibri-Bold"/>
              </a:rPr>
              <a:t>ASSIGNMENT FOLIO</a:t>
            </a:r>
            <a:endParaRPr lang="en-IN" sz="1867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A562EC-37A1-BEEA-9EBB-856FDF8F5D87}"/>
              </a:ext>
            </a:extLst>
          </p:cNvPr>
          <p:cNvSpPr txBox="1"/>
          <p:nvPr/>
        </p:nvSpPr>
        <p:spPr>
          <a:xfrm>
            <a:off x="9296400" y="416841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/>
              <a:t>Acknowledgement</a:t>
            </a:r>
            <a:endParaRPr lang="en-IN" sz="2667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806327-027E-46D5-A545-4125E248BF58}"/>
              </a:ext>
            </a:extLst>
          </p:cNvPr>
          <p:cNvSpPr txBox="1"/>
          <p:nvPr/>
        </p:nvSpPr>
        <p:spPr>
          <a:xfrm>
            <a:off x="518160" y="386080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1"/>
                </a:solidFill>
              </a:rPr>
              <a:t>Digital Marketing</a:t>
            </a:r>
            <a:endParaRPr lang="en-IN" sz="2667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354051-ED13-9F40-954C-C3EE845613BF}"/>
              </a:ext>
            </a:extLst>
          </p:cNvPr>
          <p:cNvSpPr txBox="1"/>
          <p:nvPr/>
        </p:nvSpPr>
        <p:spPr>
          <a:xfrm>
            <a:off x="513080" y="603313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223780-E417-81F9-02FD-B8194EF44570}"/>
              </a:ext>
            </a:extLst>
          </p:cNvPr>
          <p:cNvSpPr txBox="1"/>
          <p:nvPr/>
        </p:nvSpPr>
        <p:spPr>
          <a:xfrm>
            <a:off x="477520" y="1394545"/>
            <a:ext cx="11714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We take this opportunity to express our sincere gratitude to </a:t>
            </a:r>
            <a:r>
              <a:rPr lang="en-IN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Dezyne</a:t>
            </a: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 École College for providing us with the knowledge, </a:t>
            </a:r>
            <a:endParaRPr lang="en-IN" sz="1600" dirty="0"/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resources, and guidance essential to the successful completion of this project.</a:t>
            </a:r>
            <a:endParaRPr lang="en-IN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F0E4E0-31C1-6C41-4773-E4B05CC6CDF9}"/>
              </a:ext>
            </a:extLst>
          </p:cNvPr>
          <p:cNvSpPr txBox="1"/>
          <p:nvPr/>
        </p:nvSpPr>
        <p:spPr>
          <a:xfrm>
            <a:off x="467360" y="1991966"/>
            <a:ext cx="11714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Our deepest thanks to our respected Principal, Dr. Vinita Mathur, for her visionary leadership and continuous encouragement. </a:t>
            </a:r>
          </a:p>
          <a:p>
            <a:r>
              <a:rPr lang="en-IN" sz="1600" dirty="0"/>
              <a:t>Her commitment to academic excellence and student growth has been a constant source of motivation and pride.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ED4851-BED6-C97D-CBD4-737FD7001A31}"/>
              </a:ext>
            </a:extLst>
          </p:cNvPr>
          <p:cNvSpPr txBox="1"/>
          <p:nvPr/>
        </p:nvSpPr>
        <p:spPr>
          <a:xfrm>
            <a:off x="477520" y="2665616"/>
            <a:ext cx="11714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We are equally thankful to all our faculty members for their consistent support, expert advice, and valuable insights that </a:t>
            </a:r>
          </a:p>
          <a:p>
            <a:r>
              <a:rPr lang="en-IN" sz="1600" dirty="0"/>
              <a:t>shaped our learning and helped us achieve this milestone.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ECDEBB-F665-D517-8997-481540058DC4}"/>
              </a:ext>
            </a:extLst>
          </p:cNvPr>
          <p:cNvSpPr txBox="1"/>
          <p:nvPr/>
        </p:nvSpPr>
        <p:spPr>
          <a:xfrm>
            <a:off x="487680" y="3284890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/>
              <a:t>Lastly, we extend heartfelt thanks to everyone who directly or indirectly contributed to the success of this project.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78CFED-75F4-18E7-95EF-3CF996CBD9D2}"/>
              </a:ext>
            </a:extLst>
          </p:cNvPr>
          <p:cNvSpPr txBox="1"/>
          <p:nvPr/>
        </p:nvSpPr>
        <p:spPr>
          <a:xfrm>
            <a:off x="477520" y="3668221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/>
              <a:t>We are proud to be part of </a:t>
            </a:r>
            <a:r>
              <a:rPr lang="en-IN" sz="1600" dirty="0" err="1"/>
              <a:t>Dezyne</a:t>
            </a:r>
            <a:r>
              <a:rPr lang="en-IN" sz="1600" dirty="0"/>
              <a:t> École College, an institution that truly nurtures professionalism, innovation, and purpose.</a:t>
            </a:r>
            <a:endParaRPr lang="en-IN" sz="2133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56C6B5-E789-1834-4170-3D45DCE773BB}"/>
              </a:ext>
            </a:extLst>
          </p:cNvPr>
          <p:cNvSpPr txBox="1"/>
          <p:nvPr/>
        </p:nvSpPr>
        <p:spPr>
          <a:xfrm>
            <a:off x="477520" y="4270715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/>
              <a:t>With sincere appreciation,</a:t>
            </a:r>
            <a:endParaRPr lang="en-IN" sz="2667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6EE082-41EE-6CB0-6E1F-64B21049B0A8}"/>
              </a:ext>
            </a:extLst>
          </p:cNvPr>
          <p:cNvSpPr txBox="1"/>
          <p:nvPr/>
        </p:nvSpPr>
        <p:spPr>
          <a:xfrm>
            <a:off x="477520" y="4619173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/>
              <a:t>H</a:t>
            </a:r>
            <a:r>
              <a:rPr lang="en-IN" sz="1600" dirty="0" err="1"/>
              <a:t>arsh</a:t>
            </a:r>
            <a:r>
              <a:rPr lang="en-IN" sz="1600" dirty="0"/>
              <a:t> Tanwar</a:t>
            </a:r>
            <a:endParaRPr lang="en-IN" sz="2133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423A19-6491-5ABB-9DAE-17A5BB10C218}"/>
              </a:ext>
            </a:extLst>
          </p:cNvPr>
          <p:cNvSpPr txBox="1"/>
          <p:nvPr/>
        </p:nvSpPr>
        <p:spPr>
          <a:xfrm>
            <a:off x="477520" y="4995720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/>
              <a:t>Department – BCA</a:t>
            </a:r>
            <a:endParaRPr lang="en-IN" sz="2667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691ABC-7CC0-916D-730B-91ED476AD6A1}"/>
              </a:ext>
            </a:extLst>
          </p:cNvPr>
          <p:cNvSpPr txBox="1"/>
          <p:nvPr/>
        </p:nvSpPr>
        <p:spPr>
          <a:xfrm>
            <a:off x="477520" y="5372267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 err="1"/>
              <a:t>Dezyne</a:t>
            </a:r>
            <a:r>
              <a:rPr lang="en-IN" sz="1600" dirty="0"/>
              <a:t> École College, Ajmer</a:t>
            </a:r>
            <a:endParaRPr lang="en-I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1F7A64-30EF-C81A-16CB-5F4D10EF8415}"/>
              </a:ext>
            </a:extLst>
          </p:cNvPr>
          <p:cNvSpPr txBox="1"/>
          <p:nvPr/>
        </p:nvSpPr>
        <p:spPr>
          <a:xfrm>
            <a:off x="528320" y="6287270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</p:spTree>
    <p:extLst>
      <p:ext uri="{BB962C8B-B14F-4D97-AF65-F5344CB8AC3E}">
        <p14:creationId xmlns:p14="http://schemas.microsoft.com/office/powerpoint/2010/main" val="3570268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37A6E-8DC1-CD5A-7968-9091C8B08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539D44-C457-38D0-3FF5-0FF53A53F628}"/>
              </a:ext>
            </a:extLst>
          </p:cNvPr>
          <p:cNvSpPr txBox="1"/>
          <p:nvPr/>
        </p:nvSpPr>
        <p:spPr>
          <a:xfrm>
            <a:off x="508000" y="78740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0000"/>
                </a:solidFill>
                <a:latin typeface="Calibri-Bold"/>
              </a:rPr>
              <a:t>ASSIGNMENT FOLIO</a:t>
            </a:r>
            <a:endParaRPr lang="en-IN" sz="1867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C64653-8634-DA1B-7424-4BB67163D02B}"/>
              </a:ext>
            </a:extLst>
          </p:cNvPr>
          <p:cNvSpPr txBox="1"/>
          <p:nvPr/>
        </p:nvSpPr>
        <p:spPr>
          <a:xfrm>
            <a:off x="9296400" y="416841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/>
              <a:t>Case Study</a:t>
            </a:r>
            <a:endParaRPr lang="en-IN" sz="2667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ACA31D-5774-2CB5-14BA-E7529525A37D}"/>
              </a:ext>
            </a:extLst>
          </p:cNvPr>
          <p:cNvSpPr txBox="1"/>
          <p:nvPr/>
        </p:nvSpPr>
        <p:spPr>
          <a:xfrm>
            <a:off x="518160" y="386080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1"/>
                </a:solidFill>
              </a:rPr>
              <a:t>Digital Marketing</a:t>
            </a:r>
            <a:endParaRPr lang="en-IN" sz="2667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8629F7-F2C1-12B5-B41C-296C529AC711}"/>
              </a:ext>
            </a:extLst>
          </p:cNvPr>
          <p:cNvSpPr txBox="1"/>
          <p:nvPr/>
        </p:nvSpPr>
        <p:spPr>
          <a:xfrm>
            <a:off x="513080" y="603313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25CFD0-4C58-C515-9998-6DA64A0276EF}"/>
              </a:ext>
            </a:extLst>
          </p:cNvPr>
          <p:cNvSpPr txBox="1"/>
          <p:nvPr/>
        </p:nvSpPr>
        <p:spPr>
          <a:xfrm>
            <a:off x="467360" y="1744188"/>
            <a:ext cx="1070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Increase Website Traffic, Generate Quality Leads, Improve Brand Visibility, Boost Course </a:t>
            </a:r>
            <a:r>
              <a:rPr lang="en-IN" sz="1600" dirty="0" err="1"/>
              <a:t>Enrollments</a:t>
            </a:r>
            <a:r>
              <a:rPr lang="en-IN" sz="1600" dirty="0"/>
              <a:t> &amp; Maximise ROI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C5B2CB-73E4-E142-C520-8AF5AC967F9D}"/>
              </a:ext>
            </a:extLst>
          </p:cNvPr>
          <p:cNvSpPr txBox="1"/>
          <p:nvPr/>
        </p:nvSpPr>
        <p:spPr>
          <a:xfrm>
            <a:off x="467360" y="1514745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Objective:</a:t>
            </a:r>
            <a:endParaRPr lang="en-IN" sz="2667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8D3780-3A41-5DB5-71FA-1976A94D3326}"/>
              </a:ext>
            </a:extLst>
          </p:cNvPr>
          <p:cNvSpPr txBox="1"/>
          <p:nvPr/>
        </p:nvSpPr>
        <p:spPr>
          <a:xfrm>
            <a:off x="467360" y="2522287"/>
            <a:ext cx="1070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Targeted high-intent keywords related to computer courses.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72AC1B-66AE-13E7-E392-0D89894DEA37}"/>
              </a:ext>
            </a:extLst>
          </p:cNvPr>
          <p:cNvSpPr txBox="1"/>
          <p:nvPr/>
        </p:nvSpPr>
        <p:spPr>
          <a:xfrm>
            <a:off x="467360" y="2292844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1. Search Campaign Strategy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DD65B4-7A3D-B7F1-F8C6-DB0547938F04}"/>
              </a:ext>
            </a:extLst>
          </p:cNvPr>
          <p:cNvSpPr txBox="1"/>
          <p:nvPr/>
        </p:nvSpPr>
        <p:spPr>
          <a:xfrm>
            <a:off x="467360" y="3199203"/>
            <a:ext cx="1070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Separate ad groups for each course to improve relevant and Quality Score.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CDD6EB-B0E8-3D09-EE8B-E074E536D463}"/>
              </a:ext>
            </a:extLst>
          </p:cNvPr>
          <p:cNvSpPr txBox="1"/>
          <p:nvPr/>
        </p:nvSpPr>
        <p:spPr>
          <a:xfrm>
            <a:off x="467360" y="2969760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2. Structure Ad Groups</a:t>
            </a:r>
            <a:endParaRPr lang="en-IN" sz="4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AA71EC-7B65-0CAC-7909-DB66E03FAF82}"/>
              </a:ext>
            </a:extLst>
          </p:cNvPr>
          <p:cNvSpPr txBox="1"/>
          <p:nvPr/>
        </p:nvSpPr>
        <p:spPr>
          <a:xfrm>
            <a:off x="467360" y="3895753"/>
            <a:ext cx="1070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Mobile-friendly design with strong call-to-action buttons.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479394-3868-4DEC-3CD3-823EDAA28A4C}"/>
              </a:ext>
            </a:extLst>
          </p:cNvPr>
          <p:cNvSpPr txBox="1"/>
          <p:nvPr/>
        </p:nvSpPr>
        <p:spPr>
          <a:xfrm>
            <a:off x="467360" y="3666311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3. Optimized Wix Landing Page</a:t>
            </a:r>
            <a:endParaRPr lang="en-IN" sz="32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482AE3-32D2-F4FC-48A3-16D11746E54C}"/>
              </a:ext>
            </a:extLst>
          </p:cNvPr>
          <p:cNvSpPr txBox="1"/>
          <p:nvPr/>
        </p:nvSpPr>
        <p:spPr>
          <a:xfrm>
            <a:off x="467360" y="4592304"/>
            <a:ext cx="1070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Measure form submission and call clicks for performance analysis.</a:t>
            </a:r>
            <a:endParaRPr lang="en-IN" sz="2133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574476-DD27-42BB-4E7D-5DD4260B475A}"/>
              </a:ext>
            </a:extLst>
          </p:cNvPr>
          <p:cNvSpPr txBox="1"/>
          <p:nvPr/>
        </p:nvSpPr>
        <p:spPr>
          <a:xfrm>
            <a:off x="467360" y="4362861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4. Conversion Tracking Setup</a:t>
            </a:r>
            <a:endParaRPr lang="en-IN" sz="2133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62F9E4-910D-8CB0-3B85-640610215E22}"/>
              </a:ext>
            </a:extLst>
          </p:cNvPr>
          <p:cNvSpPr txBox="1"/>
          <p:nvPr/>
        </p:nvSpPr>
        <p:spPr>
          <a:xfrm>
            <a:off x="528320" y="6287270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502EA2-4D1F-616A-73AF-070EC5CB2A48}"/>
              </a:ext>
            </a:extLst>
          </p:cNvPr>
          <p:cNvSpPr txBox="1"/>
          <p:nvPr/>
        </p:nvSpPr>
        <p:spPr>
          <a:xfrm>
            <a:off x="467360" y="5279729"/>
            <a:ext cx="1070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Used “Maximize Conversions” to optimize ad spend automatically.</a:t>
            </a:r>
            <a:endParaRPr lang="en-IN" sz="2133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B55893-B15B-24FA-AA2E-00004F446554}"/>
              </a:ext>
            </a:extLst>
          </p:cNvPr>
          <p:cNvSpPr txBox="1"/>
          <p:nvPr/>
        </p:nvSpPr>
        <p:spPr>
          <a:xfrm>
            <a:off x="467360" y="5050286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5. Smart Bidding Strategy</a:t>
            </a:r>
            <a:endParaRPr lang="en-IN" sz="2133" b="1" dirty="0"/>
          </a:p>
        </p:txBody>
      </p:sp>
    </p:spTree>
    <p:extLst>
      <p:ext uri="{BB962C8B-B14F-4D97-AF65-F5344CB8AC3E}">
        <p14:creationId xmlns:p14="http://schemas.microsoft.com/office/powerpoint/2010/main" val="4098772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4F98CB-28F6-E6D9-A7F5-26EF8B1582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8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038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060EC7-73DC-E88A-D7A9-04F89B488B1F}"/>
              </a:ext>
            </a:extLst>
          </p:cNvPr>
          <p:cNvSpPr txBox="1"/>
          <p:nvPr/>
        </p:nvSpPr>
        <p:spPr>
          <a:xfrm>
            <a:off x="3075767" y="399512"/>
            <a:ext cx="6294781" cy="795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Mailchimp Account Setup</a:t>
            </a:r>
            <a:endParaRPr lang="en-IN" sz="4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0C9C40-022A-ACEC-F743-44FAFCBBBA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974" y="399512"/>
            <a:ext cx="799025" cy="799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69074E-5321-544D-953D-E8988373965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0" b="1576"/>
          <a:stretch/>
        </p:blipFill>
        <p:spPr>
          <a:xfrm>
            <a:off x="0" y="1582057"/>
            <a:ext cx="12192000" cy="527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794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4FC5D9-DB99-2F1C-4CD4-1356B2194E34}"/>
              </a:ext>
            </a:extLst>
          </p:cNvPr>
          <p:cNvSpPr txBox="1"/>
          <p:nvPr/>
        </p:nvSpPr>
        <p:spPr>
          <a:xfrm>
            <a:off x="3075767" y="399512"/>
            <a:ext cx="6294781" cy="795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Email campaign </a:t>
            </a:r>
            <a:r>
              <a:rPr lang="en-US" sz="4400" b="1" dirty="0" err="1"/>
              <a:t>Dashbord</a:t>
            </a:r>
            <a:endParaRPr lang="en-IN" sz="4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598ABF-6D78-0DFD-8B7F-0DA7915C85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974" y="399512"/>
            <a:ext cx="799025" cy="799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B870DD-BE21-ADEF-07EE-2EBE24E9181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048"/>
          <a:stretch/>
        </p:blipFill>
        <p:spPr>
          <a:xfrm>
            <a:off x="0" y="1657460"/>
            <a:ext cx="12191999" cy="5200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900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5A39B1-3364-1821-B32B-C42BC8883BA8}"/>
              </a:ext>
            </a:extLst>
          </p:cNvPr>
          <p:cNvSpPr txBox="1"/>
          <p:nvPr/>
        </p:nvSpPr>
        <p:spPr>
          <a:xfrm>
            <a:off x="3075767" y="399512"/>
            <a:ext cx="76067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Email Design Method Selection</a:t>
            </a:r>
            <a:endParaRPr lang="en-IN" sz="4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7C2F42-FB3A-529E-0A9D-BC0F52D641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974" y="399512"/>
            <a:ext cx="799025" cy="799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4CC677-9262-543F-7D13-E2A6CF3E6C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29" y="1958937"/>
            <a:ext cx="10203542" cy="426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774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F3739F-32D9-E39D-0152-7A5032A88514}"/>
              </a:ext>
            </a:extLst>
          </p:cNvPr>
          <p:cNvSpPr txBox="1"/>
          <p:nvPr/>
        </p:nvSpPr>
        <p:spPr>
          <a:xfrm>
            <a:off x="2948609" y="399512"/>
            <a:ext cx="6294781" cy="795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Email Template Selection</a:t>
            </a:r>
            <a:endParaRPr lang="en-IN" sz="4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8933D2-FB2E-D151-EC48-62AACF7F10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974" y="399512"/>
            <a:ext cx="799025" cy="799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E0855F-635C-E989-CBC3-94FA45439EE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38"/>
          <a:stretch/>
        </p:blipFill>
        <p:spPr>
          <a:xfrm>
            <a:off x="0" y="1541904"/>
            <a:ext cx="12192000" cy="531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373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FC73C6-EA87-1707-3872-FF7F8E3C5A5D}"/>
              </a:ext>
            </a:extLst>
          </p:cNvPr>
          <p:cNvSpPr txBox="1"/>
          <p:nvPr/>
        </p:nvSpPr>
        <p:spPr>
          <a:xfrm>
            <a:off x="3075767" y="399512"/>
            <a:ext cx="72584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Email Design &amp; Customization</a:t>
            </a:r>
            <a:endParaRPr lang="en-IN" sz="4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8D0840-0D37-8548-C6D3-9C9CEE668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974" y="399512"/>
            <a:ext cx="799025" cy="799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1E092C-AC92-A59E-14B3-C9BB4E409B1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1" r="4458"/>
          <a:stretch/>
        </p:blipFill>
        <p:spPr>
          <a:xfrm>
            <a:off x="1378856" y="1447052"/>
            <a:ext cx="4209143" cy="5410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2EE3B5-59B3-7BDF-A18E-BE3388B1E03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49" r="13337"/>
          <a:stretch/>
        </p:blipFill>
        <p:spPr>
          <a:xfrm>
            <a:off x="6095999" y="1447052"/>
            <a:ext cx="4093029" cy="5606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633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104EF1-E279-7470-4545-AC3501E36A0E}"/>
              </a:ext>
            </a:extLst>
          </p:cNvPr>
          <p:cNvSpPr txBox="1"/>
          <p:nvPr/>
        </p:nvSpPr>
        <p:spPr>
          <a:xfrm>
            <a:off x="2931364" y="399512"/>
            <a:ext cx="80276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Contact Import Method Selection</a:t>
            </a:r>
            <a:endParaRPr lang="en-IN" sz="4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681770-2564-370E-4A38-FDACBAF2F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288" y="384719"/>
            <a:ext cx="799025" cy="799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6641E5-C1DE-159F-D306-4A815E784F3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61"/>
          <a:stretch/>
        </p:blipFill>
        <p:spPr>
          <a:xfrm>
            <a:off x="1552288" y="1921935"/>
            <a:ext cx="9406738" cy="4536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086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FF5425-F2A9-C101-1C64-7A1CA51DC221}"/>
              </a:ext>
            </a:extLst>
          </p:cNvPr>
          <p:cNvSpPr txBox="1"/>
          <p:nvPr/>
        </p:nvSpPr>
        <p:spPr>
          <a:xfrm>
            <a:off x="2931364" y="399512"/>
            <a:ext cx="66625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Copy &amp; Paste Your Contacts</a:t>
            </a:r>
            <a:endParaRPr lang="en-IN" sz="4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D1A68B-3A4D-3E40-6F85-6E954A8C6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288" y="384719"/>
            <a:ext cx="799025" cy="799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96D261-2640-169B-1D0F-ADEAF029B9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429" y="1530704"/>
            <a:ext cx="10813142" cy="494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32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8C23A9-92FD-9E3F-FE01-9163407980FC}"/>
              </a:ext>
            </a:extLst>
          </p:cNvPr>
          <p:cNvSpPr txBox="1"/>
          <p:nvPr/>
        </p:nvSpPr>
        <p:spPr>
          <a:xfrm>
            <a:off x="2931364" y="399512"/>
            <a:ext cx="66625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Organize Your Contacts</a:t>
            </a:r>
            <a:endParaRPr lang="en-IN" sz="4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7AAF65-6C75-2C81-A28A-F286A02766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288" y="384719"/>
            <a:ext cx="799025" cy="799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005868-91CF-ACD6-350A-AD35652C42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630" y="1361569"/>
            <a:ext cx="9681028" cy="532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084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C353B6-CC64-9CFD-A5F9-4056EBDDE65C}"/>
              </a:ext>
            </a:extLst>
          </p:cNvPr>
          <p:cNvSpPr txBox="1"/>
          <p:nvPr/>
        </p:nvSpPr>
        <p:spPr>
          <a:xfrm>
            <a:off x="3977133" y="384719"/>
            <a:ext cx="66625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Tag Your Contacts</a:t>
            </a:r>
            <a:endParaRPr lang="en-IN" sz="4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9C9A0A-E436-A633-8B1C-FC6630DB4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3888" y="385179"/>
            <a:ext cx="799025" cy="799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3EA34D-587F-4968-54AF-89F586ACB2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371" y="1311564"/>
            <a:ext cx="9666515" cy="536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253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529EB5-5CE1-18FF-7147-DA95F7DAAC58}"/>
              </a:ext>
            </a:extLst>
          </p:cNvPr>
          <p:cNvSpPr txBox="1"/>
          <p:nvPr/>
        </p:nvSpPr>
        <p:spPr>
          <a:xfrm>
            <a:off x="2931364" y="399512"/>
            <a:ext cx="77083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Contacts Imported Successfully</a:t>
            </a:r>
            <a:endParaRPr lang="en-IN" sz="4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3DBC3B-8037-4D2C-DE21-FD2EF3DAD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288" y="384719"/>
            <a:ext cx="799025" cy="799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84ABA6-4C1F-65AF-217A-CE05E3DB41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171" y="1419053"/>
            <a:ext cx="10014858" cy="5337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453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40D1E3-B158-56B7-4DB1-91BF384F0C89}"/>
              </a:ext>
            </a:extLst>
          </p:cNvPr>
          <p:cNvSpPr txBox="1"/>
          <p:nvPr/>
        </p:nvSpPr>
        <p:spPr>
          <a:xfrm>
            <a:off x="3388825" y="369928"/>
            <a:ext cx="54143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Import Completion</a:t>
            </a:r>
            <a:endParaRPr lang="en-IN" sz="4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77A63F-A9C7-C026-CE25-32461B0346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288" y="384719"/>
            <a:ext cx="799025" cy="799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876ECA-2014-F485-3CCF-3B316621E4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88" y="1833695"/>
            <a:ext cx="5603035" cy="46395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C15F9C-3737-74DA-008E-6D5C612EA7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1848486"/>
            <a:ext cx="5791200" cy="462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708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629FD6-0BCB-102A-43BD-C47877AB593C}"/>
              </a:ext>
            </a:extLst>
          </p:cNvPr>
          <p:cNvSpPr txBox="1"/>
          <p:nvPr/>
        </p:nvSpPr>
        <p:spPr>
          <a:xfrm>
            <a:off x="3388825" y="369928"/>
            <a:ext cx="54143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Import Confirmation</a:t>
            </a:r>
            <a:endParaRPr lang="en-IN" sz="4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1D93A1-CFF7-2550-033A-78ED5CCD54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288" y="384719"/>
            <a:ext cx="799025" cy="799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1A212D-4D28-68EA-49A0-1A611291BC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999" y="1370477"/>
            <a:ext cx="10414001" cy="5278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253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3EBA91-4418-7AFA-A152-7F4233DCEC55}"/>
              </a:ext>
            </a:extLst>
          </p:cNvPr>
          <p:cNvSpPr txBox="1"/>
          <p:nvPr/>
        </p:nvSpPr>
        <p:spPr>
          <a:xfrm>
            <a:off x="3388825" y="384719"/>
            <a:ext cx="54143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Campaign Preview</a:t>
            </a:r>
            <a:endParaRPr lang="en-IN" sz="4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F28770-4AE4-FBDE-4352-DCAE91F94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288" y="384719"/>
            <a:ext cx="799025" cy="799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3AC5EF-290D-9FEE-DE13-26F7375062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86" y="1282189"/>
            <a:ext cx="11379200" cy="529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8913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2641D-CA03-D4DB-7E52-0A631494583A}"/>
              </a:ext>
            </a:extLst>
          </p:cNvPr>
          <p:cNvSpPr txBox="1"/>
          <p:nvPr/>
        </p:nvSpPr>
        <p:spPr>
          <a:xfrm>
            <a:off x="2765451" y="384719"/>
            <a:ext cx="7874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Campaign Successfully Launched</a:t>
            </a:r>
            <a:endParaRPr lang="en-IN" sz="4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75467C-6FF1-69ED-09A9-077206C9C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775" y="384719"/>
            <a:ext cx="799025" cy="799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CA4826-377C-F189-8A1A-25B0B43760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08" y="1287185"/>
            <a:ext cx="11174384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789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54FB78-5989-E5A2-7ED7-96A3CA72C1FA}"/>
              </a:ext>
            </a:extLst>
          </p:cNvPr>
          <p:cNvSpPr txBox="1"/>
          <p:nvPr/>
        </p:nvSpPr>
        <p:spPr>
          <a:xfrm>
            <a:off x="4684355" y="384719"/>
            <a:ext cx="28232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Test Email</a:t>
            </a:r>
            <a:endParaRPr lang="en-IN" sz="4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8D471E-93A9-5A02-2DEE-9E6EAF2DBB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288" y="384719"/>
            <a:ext cx="799025" cy="799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F7FC0B-A95E-675C-E17A-986FB58F0D3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78" r="28696"/>
          <a:stretch/>
        </p:blipFill>
        <p:spPr>
          <a:xfrm>
            <a:off x="1179443" y="1456583"/>
            <a:ext cx="4916556" cy="52170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079216-57D9-B1DF-14EF-06C49BD4EAD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58" r="28664"/>
          <a:stretch/>
        </p:blipFill>
        <p:spPr>
          <a:xfrm>
            <a:off x="6533323" y="1456583"/>
            <a:ext cx="4757530" cy="5217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4630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995570B-13D5-2B02-139F-E093A51583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603" y="-457973"/>
            <a:ext cx="10988794" cy="7773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291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370</Words>
  <Application>Microsoft Office PowerPoint</Application>
  <PresentationFormat>Widescreen</PresentationFormat>
  <Paragraphs>70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Calibri-Bold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Harsh Tanwar</dc:creator>
  <cp:lastModifiedBy>Harsh Tanwar</cp:lastModifiedBy>
  <cp:revision>2</cp:revision>
  <dcterms:created xsi:type="dcterms:W3CDTF">2026-06-15T06:28:59Z</dcterms:created>
  <dcterms:modified xsi:type="dcterms:W3CDTF">2026-06-17T04:50:29Z</dcterms:modified>
</cp:coreProperties>
</file>